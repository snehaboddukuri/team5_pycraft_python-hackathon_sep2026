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10.xml" ContentType="application/vnd.openxmlformats-officedocument.drawingml.chart+xml"/>
  <Override PartName="/ppt/charts/chart6.xml" ContentType="application/vnd.openxmlformats-officedocument.drawingml.chart+xml"/>
  <Override PartName="/ppt/charts/chart11.xml" ContentType="application/vnd.openxmlformats-officedocument.drawingml.chart+xml"/>
  <Override PartName="/ppt/charts/chart7.xml" ContentType="application/vnd.openxmlformats-officedocument.drawingml.chart+xml"/>
  <Override PartName="/ppt/charts/chart12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100" spc="-1" strike="noStrike">
                <a:solidFill>
                  <a:srgbClr val="000000"/>
                </a:solidFill>
                <a:latin typeface="Arial"/>
              </a:defRPr>
            </a:pPr>
            <a:r>
              <a:rPr b="0" sz="1100" spc="-1" strike="noStrike">
                <a:solidFill>
                  <a:srgbClr val="1b2a30"/>
                </a:solidFill>
                <a:latin typeface="Arial"/>
              </a:rPr>
              <a:t>Patients by age group and sex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Female</c:v>
                </c:pt>
              </c:strCache>
            </c:strRef>
          </c:tx>
          <c:spPr>
            <a:solidFill>
              <a:srgbClr val="d98bb0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0" sz="7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8"/>
                <c:pt idx="0">
                  <c:v>21–29</c:v>
                </c:pt>
                <c:pt idx="1">
                  <c:v>29–39</c:v>
                </c:pt>
                <c:pt idx="2">
                  <c:v>39–49</c:v>
                </c:pt>
                <c:pt idx="3">
                  <c:v>49–59</c:v>
                </c:pt>
                <c:pt idx="4">
                  <c:v>59–69</c:v>
                </c:pt>
                <c:pt idx="5">
                  <c:v>69–79</c:v>
                </c:pt>
                <c:pt idx="6">
                  <c:v>79–89</c:v>
                </c:pt>
                <c:pt idx="7">
                  <c:v>89+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8"/>
                <c:pt idx="0">
                  <c:v>3</c:v>
                </c:pt>
                <c:pt idx="1">
                  <c:v>5</c:v>
                </c:pt>
                <c:pt idx="2">
                  <c:v>18</c:v>
                </c:pt>
                <c:pt idx="3">
                  <c:v>51</c:v>
                </c:pt>
                <c:pt idx="4">
                  <c:v>190</c:v>
                </c:pt>
                <c:pt idx="5">
                  <c:v>421</c:v>
                </c:pt>
                <c:pt idx="6">
                  <c:v>409</c:v>
                </c:pt>
                <c:pt idx="7">
                  <c:v>66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Male</c:v>
                </c:pt>
              </c:strCache>
            </c:strRef>
          </c:tx>
          <c:spPr>
            <a:solidFill>
              <a:srgbClr val="5fa8d3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0" sz="7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8"/>
                <c:pt idx="0">
                  <c:v>21–29</c:v>
                </c:pt>
                <c:pt idx="1">
                  <c:v>29–39</c:v>
                </c:pt>
                <c:pt idx="2">
                  <c:v>39–49</c:v>
                </c:pt>
                <c:pt idx="3">
                  <c:v>49–59</c:v>
                </c:pt>
                <c:pt idx="4">
                  <c:v>59–69</c:v>
                </c:pt>
                <c:pt idx="5">
                  <c:v>69–79</c:v>
                </c:pt>
                <c:pt idx="6">
                  <c:v>79–89</c:v>
                </c:pt>
                <c:pt idx="7">
                  <c:v>89+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8"/>
                <c:pt idx="0">
                  <c:v>1</c:v>
                </c:pt>
                <c:pt idx="1">
                  <c:v>7</c:v>
                </c:pt>
                <c:pt idx="2">
                  <c:v>38</c:v>
                </c:pt>
                <c:pt idx="3">
                  <c:v>55</c:v>
                </c:pt>
                <c:pt idx="4">
                  <c:v>178</c:v>
                </c:pt>
                <c:pt idx="5">
                  <c:v>294</c:v>
                </c:pt>
                <c:pt idx="6">
                  <c:v>237</c:v>
                </c:pt>
                <c:pt idx="7">
                  <c:v>35</c:v>
                </c:pt>
              </c:numCache>
            </c:numRef>
          </c:val>
        </c:ser>
        <c:gapWidth val="40"/>
        <c:overlap val="0"/>
        <c:axId val="71045873"/>
        <c:axId val="77145039"/>
      </c:barChart>
      <c:catAx>
        <c:axId val="71045873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b5c4c9"/>
            </a:solidFill>
            <a:round/>
          </a:ln>
        </c:spPr>
        <c:txPr>
          <a:bodyPr/>
          <a:lstStyle/>
          <a:p>
            <a:pPr>
              <a:defRPr b="0" sz="8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77145039"/>
        <c:crosses val="autoZero"/>
        <c:auto val="1"/>
        <c:lblAlgn val="ctr"/>
        <c:lblOffset val="100"/>
        <c:noMultiLvlLbl val="0"/>
      </c:catAx>
      <c:valAx>
        <c:axId val="77145039"/>
        <c:scaling>
          <c:orientation val="minMax"/>
          <c:max val="48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b="0" sz="9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71045873"/>
        <c:crossBetween val="between"/>
      </c:valAx>
      <c:spPr>
        <a:noFill/>
        <a:ln w="0">
          <a:noFill/>
        </a:ln>
      </c:spPr>
    </c:plotArea>
    <c:legend>
      <c:legendPos val="t"/>
      <c:overlay val="0"/>
      <c:spPr>
        <a:noFill/>
        <a:ln w="0">
          <a:noFill/>
        </a:ln>
      </c:spPr>
      <c:txPr>
        <a:bodyPr/>
        <a:lstStyle/>
        <a:p>
          <a:pPr>
            <a:defRPr b="0" sz="900" spc="-1" strike="noStrike">
              <a:solidFill>
                <a:srgbClr val="1b2a30"/>
              </a:solidFill>
              <a:latin typeface="Times New Roman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100" spc="-1" strike="noStrike">
                <a:solidFill>
                  <a:srgbClr val="000000"/>
                </a:solidFill>
                <a:latin typeface="Arial"/>
              </a:defRPr>
            </a:pPr>
            <a:r>
              <a:rPr b="0" sz="1100" spc="-1" strike="noStrike">
                <a:solidFill>
                  <a:srgbClr val="1b2a30"/>
                </a:solidFill>
                <a:latin typeface="Arial"/>
              </a:rPr>
              <a:t>Underweight by age group (%)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Underweight</c:v>
                </c:pt>
              </c:strCache>
            </c:strRef>
          </c:tx>
          <c:spPr>
            <a:solidFill>
              <a:srgbClr val="fbe3cf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fbe3cf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f9d2b2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f8d9c0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f6c8a3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f6c8a3"/>
              </a:solidFill>
              <a:ln w="0">
                <a:noFill/>
              </a:ln>
            </c:spPr>
          </c:dPt>
          <c:dPt>
            <c:idx val="5"/>
            <c:invertIfNegative val="0"/>
            <c:spPr>
              <a:solidFill>
                <a:srgbClr val="f4b887"/>
              </a:solidFill>
              <a:ln w="0">
                <a:noFill/>
              </a:ln>
            </c:spPr>
          </c:dPt>
          <c:dPt>
            <c:idx val="6"/>
            <c:invertIfNegative val="0"/>
            <c:spPr>
              <a:solidFill>
                <a:srgbClr val="f3ae76"/>
              </a:solidFill>
              <a:ln w="0">
                <a:noFill/>
              </a:ln>
            </c:spPr>
          </c:dPt>
          <c:dPt>
            <c:idx val="7"/>
            <c:invertIfNegative val="0"/>
            <c:spPr>
              <a:solidFill>
                <a:srgbClr val="e08a45"/>
              </a:solidFill>
              <a:ln w="0">
                <a:noFill/>
              </a:ln>
            </c:spPr>
          </c:dPt>
          <c:dLbls>
            <c:numFmt formatCode="0.0\%" sourceLinked="0"/>
            <c:dLbl>
              <c:idx val="0"/>
              <c:numFmt formatCode="0.0\%" sourceLinked="0"/>
              <c:txPr>
                <a:bodyPr wrap="square"/>
                <a:lstStyle/>
                <a:p>
                  <a:pPr>
                    <a:defRPr b="0" sz="8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\%" sourceLinked="0"/>
              <c:txPr>
                <a:bodyPr wrap="square"/>
                <a:lstStyle/>
                <a:p>
                  <a:pPr>
                    <a:defRPr b="0" sz="8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\%" sourceLinked="0"/>
              <c:txPr>
                <a:bodyPr wrap="square"/>
                <a:lstStyle/>
                <a:p>
                  <a:pPr>
                    <a:defRPr b="0" sz="8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\%" sourceLinked="0"/>
              <c:txPr>
                <a:bodyPr wrap="square"/>
                <a:lstStyle/>
                <a:p>
                  <a:pPr>
                    <a:defRPr b="0" sz="8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4"/>
              <c:numFmt formatCode="0.0\%" sourceLinked="0"/>
              <c:txPr>
                <a:bodyPr wrap="square"/>
                <a:lstStyle/>
                <a:p>
                  <a:pPr>
                    <a:defRPr b="0" sz="8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5"/>
              <c:numFmt formatCode="0.0\%" sourceLinked="0"/>
              <c:txPr>
                <a:bodyPr wrap="square"/>
                <a:lstStyle/>
                <a:p>
                  <a:pPr>
                    <a:defRPr b="0" sz="8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6"/>
              <c:numFmt formatCode="0.0\%" sourceLinked="0"/>
              <c:txPr>
                <a:bodyPr wrap="square"/>
                <a:lstStyle/>
                <a:p>
                  <a:pPr>
                    <a:defRPr b="0" sz="8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7"/>
              <c:numFmt formatCode="0.0\%" sourceLinked="0"/>
              <c:txPr>
                <a:bodyPr wrap="square"/>
                <a:lstStyle/>
                <a:p>
                  <a:pPr>
                    <a:defRPr b="0" sz="8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85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8"/>
                <c:pt idx="0">
                  <c:v>21–29</c:v>
                </c:pt>
                <c:pt idx="1">
                  <c:v>29–39</c:v>
                </c:pt>
                <c:pt idx="2">
                  <c:v>39–49</c:v>
                </c:pt>
                <c:pt idx="3">
                  <c:v>49–59</c:v>
                </c:pt>
                <c:pt idx="4">
                  <c:v>59–69</c:v>
                </c:pt>
                <c:pt idx="5">
                  <c:v>69–79</c:v>
                </c:pt>
                <c:pt idx="6">
                  <c:v>79–89</c:v>
                </c:pt>
                <c:pt idx="7">
                  <c:v>89+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8"/>
                <c:pt idx="0">
                  <c:v>0</c:v>
                </c:pt>
                <c:pt idx="1">
                  <c:v>25</c:v>
                </c:pt>
                <c:pt idx="2">
                  <c:v>17.9</c:v>
                </c:pt>
                <c:pt idx="3">
                  <c:v>22.6</c:v>
                </c:pt>
                <c:pt idx="4">
                  <c:v>22.8</c:v>
                </c:pt>
                <c:pt idx="5">
                  <c:v>25.3</c:v>
                </c:pt>
                <c:pt idx="6">
                  <c:v>26</c:v>
                </c:pt>
                <c:pt idx="7">
                  <c:v>36.6</c:v>
                </c:pt>
              </c:numCache>
            </c:numRef>
          </c:val>
        </c:ser>
        <c:gapWidth val="35"/>
        <c:overlap val="0"/>
        <c:axId val="19260138"/>
        <c:axId val="89331133"/>
      </c:barChart>
      <c:catAx>
        <c:axId val="19260138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b5c4c9"/>
            </a:solidFill>
            <a:round/>
          </a:ln>
        </c:spPr>
        <c:txPr>
          <a:bodyPr/>
          <a:lstStyle/>
          <a:p>
            <a:pPr>
              <a:defRPr b="0" sz="8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89331133"/>
        <c:crosses val="autoZero"/>
        <c:auto val="1"/>
        <c:lblAlgn val="ctr"/>
        <c:lblOffset val="100"/>
        <c:noMultiLvlLbl val="0"/>
      </c:catAx>
      <c:valAx>
        <c:axId val="89331133"/>
        <c:scaling>
          <c:orientation val="minMax"/>
          <c:max val="42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b="0" sz="9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19260138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100" spc="-1" strike="noStrike">
                <a:solidFill>
                  <a:srgbClr val="000000"/>
                </a:solidFill>
                <a:latin typeface="Arial"/>
              </a:defRPr>
            </a:pPr>
            <a:r>
              <a:rPr b="0" sz="1100" spc="-1" strike="noStrike">
                <a:solidFill>
                  <a:srgbClr val="1b2a30"/>
                </a:solidFill>
                <a:latin typeface="Arial"/>
              </a:rPr>
              <a:t>Readmission vs death over time (%)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Readmission</c:v>
                </c:pt>
              </c:strCache>
            </c:strRef>
          </c:tx>
          <c:spPr>
            <a:solidFill>
              <a:srgbClr val="5fa8d3"/>
            </a:solidFill>
            <a:ln w="38160">
              <a:solidFill>
                <a:srgbClr val="5fa8d3"/>
              </a:solidFill>
              <a:round/>
            </a:ln>
          </c:spPr>
          <c:marker>
            <c:symbol val="circle"/>
            <c:size val="8"/>
            <c:spPr>
              <a:solidFill>
                <a:srgbClr val="5fa8d3"/>
              </a:solidFill>
            </c:spPr>
          </c:marker>
          <c:dLbls>
            <c:numFmt formatCode="0.0\%" sourceLinked="0"/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28 days</c:v>
                </c:pt>
                <c:pt idx="1">
                  <c:v>3 months</c:v>
                </c:pt>
                <c:pt idx="2">
                  <c:v>6 months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7</c:v>
                </c:pt>
                <c:pt idx="1">
                  <c:v>24.8</c:v>
                </c:pt>
                <c:pt idx="2">
                  <c:v>38.5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Death</c:v>
                </c:pt>
              </c:strCache>
            </c:strRef>
          </c:tx>
          <c:spPr>
            <a:solidFill>
              <a:srgbClr val="e07a5f"/>
            </a:solidFill>
            <a:ln w="38160">
              <a:solidFill>
                <a:srgbClr val="e07a5f"/>
              </a:solidFill>
              <a:round/>
            </a:ln>
          </c:spPr>
          <c:marker>
            <c:symbol val="circle"/>
            <c:size val="8"/>
            <c:spPr>
              <a:solidFill>
                <a:srgbClr val="e07a5f"/>
              </a:solidFill>
            </c:spPr>
          </c:marker>
          <c:dLbls>
            <c:numFmt formatCode="0.0\%" sourceLinked="0"/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28 days</c:v>
                </c:pt>
                <c:pt idx="1">
                  <c:v>3 months</c:v>
                </c:pt>
                <c:pt idx="2">
                  <c:v>6 months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"/>
                <c:pt idx="0">
                  <c:v>1.8</c:v>
                </c:pt>
                <c:pt idx="1">
                  <c:v>2.1</c:v>
                </c:pt>
                <c:pt idx="2">
                  <c:v>2.8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73178841"/>
        <c:axId val="94467106"/>
      </c:lineChart>
      <c:catAx>
        <c:axId val="7317884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b5c4c9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94467106"/>
        <c:crosses val="autoZero"/>
        <c:auto val="1"/>
        <c:lblAlgn val="ctr"/>
        <c:lblOffset val="100"/>
        <c:noMultiLvlLbl val="0"/>
      </c:catAx>
      <c:valAx>
        <c:axId val="94467106"/>
        <c:scaling>
          <c:orientation val="minMax"/>
          <c:max val="46"/>
          <c:min val="-4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b="0" sz="9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73178841"/>
        <c:crossBetween val="between"/>
      </c:valAx>
      <c:spPr>
        <a:noFill/>
        <a:ln w="0">
          <a:noFill/>
        </a:ln>
      </c:spPr>
    </c:plotArea>
    <c:legend>
      <c:legendPos val="t"/>
      <c:overlay val="0"/>
      <c:spPr>
        <a:noFill/>
        <a:ln w="0">
          <a:noFill/>
        </a:ln>
      </c:spPr>
      <c:txPr>
        <a:bodyPr/>
        <a:lstStyle/>
        <a:p>
          <a:pPr>
            <a:defRPr b="0" sz="900" spc="-1" strike="noStrike">
              <a:solidFill>
                <a:srgbClr val="1b2a30"/>
              </a:solidFill>
              <a:latin typeface="Times New Roman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100" spc="-1" strike="noStrike">
                <a:solidFill>
                  <a:srgbClr val="000000"/>
                </a:solidFill>
                <a:latin typeface="Arial"/>
              </a:defRPr>
            </a:pPr>
            <a:r>
              <a:rPr b="0" sz="1100" spc="-1" strike="noStrike">
                <a:solidFill>
                  <a:srgbClr val="1b2a30"/>
                </a:solidFill>
                <a:latin typeface="Arial"/>
              </a:rPr>
              <a:t>28-day death by consciousness at arrival (%)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Clear (1,974)</c:v>
                </c:pt>
              </c:strCache>
            </c:strRef>
          </c:tx>
          <c:spPr>
            <a:solidFill>
              <a:srgbClr val="5fa8d3"/>
            </a:solidFill>
            <a:ln w="31680">
              <a:solidFill>
                <a:srgbClr val="5fa8d3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29"/>
                <c:pt idx="0">
                  <c:v>Day 0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    </c:v>
                </c:pt>
                <c:pt idx="5">
                  <c:v>     </c:v>
                </c:pt>
                <c:pt idx="6">
                  <c:v>      </c:v>
                </c:pt>
                <c:pt idx="7">
                  <c:v>Day 7</c:v>
                </c:pt>
                <c:pt idx="8">
                  <c:v>        </c:v>
                </c:pt>
                <c:pt idx="9">
                  <c:v>         </c:v>
                </c:pt>
                <c:pt idx="10">
                  <c:v>          </c:v>
                </c:pt>
                <c:pt idx="11">
                  <c:v>           </c:v>
                </c:pt>
                <c:pt idx="12">
                  <c:v>            </c:v>
                </c:pt>
                <c:pt idx="13">
                  <c:v>             </c:v>
                </c:pt>
                <c:pt idx="14">
                  <c:v>Day 14</c:v>
                </c:pt>
                <c:pt idx="15">
                  <c:v>               </c:v>
                </c:pt>
                <c:pt idx="16">
                  <c:v>                </c:v>
                </c:pt>
                <c:pt idx="17">
                  <c:v>                 </c:v>
                </c:pt>
                <c:pt idx="18">
                  <c:v>                  </c:v>
                </c:pt>
                <c:pt idx="19">
                  <c:v>                   </c:v>
                </c:pt>
                <c:pt idx="20">
                  <c:v>                    </c:v>
                </c:pt>
                <c:pt idx="21">
                  <c:v>Day 21</c:v>
                </c:pt>
                <c:pt idx="22">
                  <c:v>                      </c:v>
                </c:pt>
                <c:pt idx="23">
                  <c:v>                       </c:v>
                </c:pt>
                <c:pt idx="24">
                  <c:v>                        </c:v>
                </c:pt>
                <c:pt idx="25">
                  <c:v>                         </c:v>
                </c:pt>
                <c:pt idx="26">
                  <c:v>                          </c:v>
                </c:pt>
                <c:pt idx="27">
                  <c:v>                           </c:v>
                </c:pt>
                <c:pt idx="28">
                  <c:v>Day 28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29"/>
                <c:pt idx="0">
                  <c:v>0</c:v>
                </c:pt>
                <c:pt idx="1">
                  <c:v>0.1</c:v>
                </c:pt>
                <c:pt idx="2">
                  <c:v>0.3</c:v>
                </c:pt>
                <c:pt idx="3">
                  <c:v>0.6</c:v>
                </c:pt>
                <c:pt idx="4">
                  <c:v>0.6</c:v>
                </c:pt>
                <c:pt idx="5">
                  <c:v>0.7</c:v>
                </c:pt>
                <c:pt idx="6">
                  <c:v>0.7</c:v>
                </c:pt>
                <c:pt idx="7">
                  <c:v>0.8</c:v>
                </c:pt>
                <c:pt idx="8">
                  <c:v>0.8</c:v>
                </c:pt>
                <c:pt idx="9">
                  <c:v>0.8</c:v>
                </c:pt>
                <c:pt idx="10">
                  <c:v>0.8</c:v>
                </c:pt>
                <c:pt idx="11">
                  <c:v>0.8</c:v>
                </c:pt>
                <c:pt idx="12">
                  <c:v>0.8</c:v>
                </c:pt>
                <c:pt idx="13">
                  <c:v>0.8</c:v>
                </c:pt>
                <c:pt idx="14">
                  <c:v>0.9</c:v>
                </c:pt>
                <c:pt idx="15">
                  <c:v>0.9</c:v>
                </c:pt>
                <c:pt idx="16">
                  <c:v>0.9</c:v>
                </c:pt>
                <c:pt idx="17">
                  <c:v>0.9</c:v>
                </c:pt>
                <c:pt idx="18">
                  <c:v>0.9</c:v>
                </c:pt>
                <c:pt idx="19">
                  <c:v>0.9</c:v>
                </c:pt>
                <c:pt idx="20">
                  <c:v>0.9</c:v>
                </c:pt>
                <c:pt idx="21">
                  <c:v>1.1</c:v>
                </c:pt>
                <c:pt idx="22">
                  <c:v>1.1</c:v>
                </c:pt>
                <c:pt idx="23">
                  <c:v>1.1</c:v>
                </c:pt>
                <c:pt idx="24">
                  <c:v>1.1</c:v>
                </c:pt>
                <c:pt idx="25">
                  <c:v>1.1</c:v>
                </c:pt>
                <c:pt idx="26">
                  <c:v>1.1</c:v>
                </c:pt>
                <c:pt idx="27">
                  <c:v>1.1</c:v>
                </c:pt>
                <c:pt idx="28">
                  <c:v>1.2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Sound (19)</c:v>
                </c:pt>
              </c:strCache>
            </c:strRef>
          </c:tx>
          <c:spPr>
            <a:solidFill>
              <a:srgbClr val="e6c35c"/>
            </a:solidFill>
            <a:ln w="31680">
              <a:solidFill>
                <a:srgbClr val="e6c35c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29"/>
                <c:pt idx="0">
                  <c:v>Day 0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    </c:v>
                </c:pt>
                <c:pt idx="5">
                  <c:v>     </c:v>
                </c:pt>
                <c:pt idx="6">
                  <c:v>      </c:v>
                </c:pt>
                <c:pt idx="7">
                  <c:v>Day 7</c:v>
                </c:pt>
                <c:pt idx="8">
                  <c:v>        </c:v>
                </c:pt>
                <c:pt idx="9">
                  <c:v>         </c:v>
                </c:pt>
                <c:pt idx="10">
                  <c:v>          </c:v>
                </c:pt>
                <c:pt idx="11">
                  <c:v>           </c:v>
                </c:pt>
                <c:pt idx="12">
                  <c:v>            </c:v>
                </c:pt>
                <c:pt idx="13">
                  <c:v>             </c:v>
                </c:pt>
                <c:pt idx="14">
                  <c:v>Day 14</c:v>
                </c:pt>
                <c:pt idx="15">
                  <c:v>               </c:v>
                </c:pt>
                <c:pt idx="16">
                  <c:v>                </c:v>
                </c:pt>
                <c:pt idx="17">
                  <c:v>                 </c:v>
                </c:pt>
                <c:pt idx="18">
                  <c:v>                  </c:v>
                </c:pt>
                <c:pt idx="19">
                  <c:v>                   </c:v>
                </c:pt>
                <c:pt idx="20">
                  <c:v>                    </c:v>
                </c:pt>
                <c:pt idx="21">
                  <c:v>Day 21</c:v>
                </c:pt>
                <c:pt idx="22">
                  <c:v>                      </c:v>
                </c:pt>
                <c:pt idx="23">
                  <c:v>                       </c:v>
                </c:pt>
                <c:pt idx="24">
                  <c:v>                        </c:v>
                </c:pt>
                <c:pt idx="25">
                  <c:v>                         </c:v>
                </c:pt>
                <c:pt idx="26">
                  <c:v>                          </c:v>
                </c:pt>
                <c:pt idx="27">
                  <c:v>                           </c:v>
                </c:pt>
                <c:pt idx="28">
                  <c:v>Day 28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29"/>
                <c:pt idx="0">
                  <c:v>0</c:v>
                </c:pt>
                <c:pt idx="1">
                  <c:v>5.3</c:v>
                </c:pt>
                <c:pt idx="2">
                  <c:v>10.5</c:v>
                </c:pt>
                <c:pt idx="3">
                  <c:v>10.5</c:v>
                </c:pt>
                <c:pt idx="4">
                  <c:v>10.5</c:v>
                </c:pt>
                <c:pt idx="5">
                  <c:v>15.8</c:v>
                </c:pt>
                <c:pt idx="6">
                  <c:v>15.8</c:v>
                </c:pt>
                <c:pt idx="7">
                  <c:v>15.8</c:v>
                </c:pt>
                <c:pt idx="8">
                  <c:v>15.8</c:v>
                </c:pt>
                <c:pt idx="9">
                  <c:v>15.8</c:v>
                </c:pt>
                <c:pt idx="10">
                  <c:v>15.8</c:v>
                </c:pt>
                <c:pt idx="11">
                  <c:v>15.8</c:v>
                </c:pt>
                <c:pt idx="12">
                  <c:v>15.8</c:v>
                </c:pt>
                <c:pt idx="13">
                  <c:v>15.8</c:v>
                </c:pt>
                <c:pt idx="14">
                  <c:v>15.8</c:v>
                </c:pt>
                <c:pt idx="15">
                  <c:v>15.8</c:v>
                </c:pt>
                <c:pt idx="16">
                  <c:v>15.8</c:v>
                </c:pt>
                <c:pt idx="17">
                  <c:v>15.8</c:v>
                </c:pt>
                <c:pt idx="18">
                  <c:v>15.8</c:v>
                </c:pt>
                <c:pt idx="19">
                  <c:v>15.8</c:v>
                </c:pt>
                <c:pt idx="20">
                  <c:v>15.8</c:v>
                </c:pt>
                <c:pt idx="21">
                  <c:v>15.8</c:v>
                </c:pt>
                <c:pt idx="22">
                  <c:v>15.8</c:v>
                </c:pt>
                <c:pt idx="23">
                  <c:v>15.8</c:v>
                </c:pt>
                <c:pt idx="24">
                  <c:v>15.8</c:v>
                </c:pt>
                <c:pt idx="25">
                  <c:v>15.8</c:v>
                </c:pt>
                <c:pt idx="26">
                  <c:v>15.8</c:v>
                </c:pt>
                <c:pt idx="27">
                  <c:v>15.8</c:v>
                </c:pt>
                <c:pt idx="28">
                  <c:v>15.8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Pain (4)</c:v>
                </c:pt>
              </c:strCache>
            </c:strRef>
          </c:tx>
          <c:spPr>
            <a:solidFill>
              <a:srgbClr val="f2a65a"/>
            </a:solidFill>
            <a:ln w="31680">
              <a:solidFill>
                <a:srgbClr val="f2a65a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29"/>
                <c:pt idx="0">
                  <c:v>Day 0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    </c:v>
                </c:pt>
                <c:pt idx="5">
                  <c:v>     </c:v>
                </c:pt>
                <c:pt idx="6">
                  <c:v>      </c:v>
                </c:pt>
                <c:pt idx="7">
                  <c:v>Day 7</c:v>
                </c:pt>
                <c:pt idx="8">
                  <c:v>        </c:v>
                </c:pt>
                <c:pt idx="9">
                  <c:v>         </c:v>
                </c:pt>
                <c:pt idx="10">
                  <c:v>          </c:v>
                </c:pt>
                <c:pt idx="11">
                  <c:v>           </c:v>
                </c:pt>
                <c:pt idx="12">
                  <c:v>            </c:v>
                </c:pt>
                <c:pt idx="13">
                  <c:v>             </c:v>
                </c:pt>
                <c:pt idx="14">
                  <c:v>Day 14</c:v>
                </c:pt>
                <c:pt idx="15">
                  <c:v>               </c:v>
                </c:pt>
                <c:pt idx="16">
                  <c:v>                </c:v>
                </c:pt>
                <c:pt idx="17">
                  <c:v>                 </c:v>
                </c:pt>
                <c:pt idx="18">
                  <c:v>                  </c:v>
                </c:pt>
                <c:pt idx="19">
                  <c:v>                   </c:v>
                </c:pt>
                <c:pt idx="20">
                  <c:v>                    </c:v>
                </c:pt>
                <c:pt idx="21">
                  <c:v>Day 21</c:v>
                </c:pt>
                <c:pt idx="22">
                  <c:v>                      </c:v>
                </c:pt>
                <c:pt idx="23">
                  <c:v>                       </c:v>
                </c:pt>
                <c:pt idx="24">
                  <c:v>                        </c:v>
                </c:pt>
                <c:pt idx="25">
                  <c:v>                         </c:v>
                </c:pt>
                <c:pt idx="26">
                  <c:v>                          </c:v>
                </c:pt>
                <c:pt idx="27">
                  <c:v>                           </c:v>
                </c:pt>
                <c:pt idx="28">
                  <c:v>Day 28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25</c:v>
                </c:pt>
                <c:pt idx="4">
                  <c:v>25</c:v>
                </c:pt>
                <c:pt idx="5">
                  <c:v>25</c:v>
                </c:pt>
                <c:pt idx="6">
                  <c:v>25</c:v>
                </c:pt>
                <c:pt idx="7">
                  <c:v>25</c:v>
                </c:pt>
                <c:pt idx="8">
                  <c:v>25</c:v>
                </c:pt>
                <c:pt idx="9">
                  <c:v>25</c:v>
                </c:pt>
                <c:pt idx="10">
                  <c:v>25</c:v>
                </c:pt>
                <c:pt idx="11">
                  <c:v>25</c:v>
                </c:pt>
                <c:pt idx="12">
                  <c:v>25</c:v>
                </c:pt>
                <c:pt idx="13">
                  <c:v>25</c:v>
                </c:pt>
                <c:pt idx="14">
                  <c:v>25</c:v>
                </c:pt>
                <c:pt idx="15">
                  <c:v>25</c:v>
                </c:pt>
                <c:pt idx="16">
                  <c:v>25</c:v>
                </c:pt>
                <c:pt idx="17">
                  <c:v>25</c:v>
                </c:pt>
                <c:pt idx="18">
                  <c:v>25</c:v>
                </c:pt>
                <c:pt idx="19">
                  <c:v>25</c:v>
                </c:pt>
                <c:pt idx="20">
                  <c:v>25</c:v>
                </c:pt>
                <c:pt idx="21">
                  <c:v>25</c:v>
                </c:pt>
                <c:pt idx="22">
                  <c:v>25</c:v>
                </c:pt>
                <c:pt idx="23">
                  <c:v>25</c:v>
                </c:pt>
                <c:pt idx="24">
                  <c:v>25</c:v>
                </c:pt>
                <c:pt idx="25">
                  <c:v>25</c:v>
                </c:pt>
                <c:pt idx="26">
                  <c:v>25</c:v>
                </c:pt>
                <c:pt idx="27">
                  <c:v>25</c:v>
                </c:pt>
                <c:pt idx="28">
                  <c:v>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label 3</c:f>
              <c:strCache>
                <c:ptCount val="1"/>
                <c:pt idx="0">
                  <c:v>None (11)</c:v>
                </c:pt>
              </c:strCache>
            </c:strRef>
          </c:tx>
          <c:spPr>
            <a:solidFill>
              <a:srgbClr val="c0543a"/>
            </a:solidFill>
            <a:ln w="31680">
              <a:solidFill>
                <a:srgbClr val="c0543a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29"/>
                <c:pt idx="0">
                  <c:v>Day 0</c:v>
                </c:pt>
                <c:pt idx="1">
                  <c:v> </c:v>
                </c:pt>
                <c:pt idx="2">
                  <c:v>  </c:v>
                </c:pt>
                <c:pt idx="3">
                  <c:v>   </c:v>
                </c:pt>
                <c:pt idx="4">
                  <c:v>    </c:v>
                </c:pt>
                <c:pt idx="5">
                  <c:v>     </c:v>
                </c:pt>
                <c:pt idx="6">
                  <c:v>      </c:v>
                </c:pt>
                <c:pt idx="7">
                  <c:v>Day 7</c:v>
                </c:pt>
                <c:pt idx="8">
                  <c:v>        </c:v>
                </c:pt>
                <c:pt idx="9">
                  <c:v>         </c:v>
                </c:pt>
                <c:pt idx="10">
                  <c:v>          </c:v>
                </c:pt>
                <c:pt idx="11">
                  <c:v>           </c:v>
                </c:pt>
                <c:pt idx="12">
                  <c:v>            </c:v>
                </c:pt>
                <c:pt idx="13">
                  <c:v>             </c:v>
                </c:pt>
                <c:pt idx="14">
                  <c:v>Day 14</c:v>
                </c:pt>
                <c:pt idx="15">
                  <c:v>               </c:v>
                </c:pt>
                <c:pt idx="16">
                  <c:v>                </c:v>
                </c:pt>
                <c:pt idx="17">
                  <c:v>                 </c:v>
                </c:pt>
                <c:pt idx="18">
                  <c:v>                  </c:v>
                </c:pt>
                <c:pt idx="19">
                  <c:v>                   </c:v>
                </c:pt>
                <c:pt idx="20">
                  <c:v>                    </c:v>
                </c:pt>
                <c:pt idx="21">
                  <c:v>Day 21</c:v>
                </c:pt>
                <c:pt idx="22">
                  <c:v>                      </c:v>
                </c:pt>
                <c:pt idx="23">
                  <c:v>                       </c:v>
                </c:pt>
                <c:pt idx="24">
                  <c:v>                        </c:v>
                </c:pt>
                <c:pt idx="25">
                  <c:v>                         </c:v>
                </c:pt>
                <c:pt idx="26">
                  <c:v>                          </c:v>
                </c:pt>
                <c:pt idx="27">
                  <c:v>                           </c:v>
                </c:pt>
                <c:pt idx="28">
                  <c:v>Day 28</c:v>
                </c:pt>
              </c:strCache>
            </c:strRef>
          </c:cat>
          <c:val>
            <c:numRef>
              <c:f>3</c:f>
              <c:numCache>
                <c:formatCode>General</c:formatCode>
                <c:ptCount val="29"/>
                <c:pt idx="0">
                  <c:v>0</c:v>
                </c:pt>
                <c:pt idx="1">
                  <c:v>9.1</c:v>
                </c:pt>
                <c:pt idx="2">
                  <c:v>45.5</c:v>
                </c:pt>
                <c:pt idx="3">
                  <c:v>54.5</c:v>
                </c:pt>
                <c:pt idx="4">
                  <c:v>54.5</c:v>
                </c:pt>
                <c:pt idx="5">
                  <c:v>54.5</c:v>
                </c:pt>
                <c:pt idx="6">
                  <c:v>54.5</c:v>
                </c:pt>
                <c:pt idx="7">
                  <c:v>54.5</c:v>
                </c:pt>
                <c:pt idx="8">
                  <c:v>54.5</c:v>
                </c:pt>
                <c:pt idx="9">
                  <c:v>54.5</c:v>
                </c:pt>
                <c:pt idx="10">
                  <c:v>72.7</c:v>
                </c:pt>
                <c:pt idx="11">
                  <c:v>72.7</c:v>
                </c:pt>
                <c:pt idx="12">
                  <c:v>72.7</c:v>
                </c:pt>
                <c:pt idx="13">
                  <c:v>72.7</c:v>
                </c:pt>
                <c:pt idx="14">
                  <c:v>72.7</c:v>
                </c:pt>
                <c:pt idx="15">
                  <c:v>72.7</c:v>
                </c:pt>
                <c:pt idx="16">
                  <c:v>72.7</c:v>
                </c:pt>
                <c:pt idx="17">
                  <c:v>72.7</c:v>
                </c:pt>
                <c:pt idx="18">
                  <c:v>72.7</c:v>
                </c:pt>
                <c:pt idx="19">
                  <c:v>72.7</c:v>
                </c:pt>
                <c:pt idx="20">
                  <c:v>72.7</c:v>
                </c:pt>
                <c:pt idx="21">
                  <c:v>81.8</c:v>
                </c:pt>
                <c:pt idx="22">
                  <c:v>81.8</c:v>
                </c:pt>
                <c:pt idx="23">
                  <c:v>81.8</c:v>
                </c:pt>
                <c:pt idx="24">
                  <c:v>81.8</c:v>
                </c:pt>
                <c:pt idx="25">
                  <c:v>81.8</c:v>
                </c:pt>
                <c:pt idx="26">
                  <c:v>81.8</c:v>
                </c:pt>
                <c:pt idx="27">
                  <c:v>81.8</c:v>
                </c:pt>
                <c:pt idx="28">
                  <c:v>90.9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0"/>
        <c:axId val="60000345"/>
        <c:axId val="77055985"/>
      </c:lineChart>
      <c:catAx>
        <c:axId val="6000034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b5c4c9"/>
            </a:solidFill>
            <a:round/>
          </a:ln>
        </c:spPr>
        <c:txPr>
          <a:bodyPr/>
          <a:lstStyle/>
          <a:p>
            <a:pPr>
              <a:defRPr b="0" sz="9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77055985"/>
        <c:crosses val="autoZero"/>
        <c:auto val="1"/>
        <c:lblAlgn val="ctr"/>
        <c:lblOffset val="100"/>
        <c:noMultiLvlLbl val="0"/>
      </c:catAx>
      <c:valAx>
        <c:axId val="77055985"/>
        <c:scaling>
          <c:orientation val="minMax"/>
          <c:max val="100"/>
          <c:min val="0"/>
        </c:scaling>
        <c:delete val="0"/>
        <c:axPos val="l"/>
        <c:numFmt formatCode="0\%" sourceLinked="0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b="0" sz="9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60000345"/>
        <c:crosses val="autoZero"/>
        <c:crossBetween val="between"/>
        <c:majorUnit val="25"/>
      </c:valAx>
      <c:spPr>
        <a:noFill/>
        <a:ln w="0">
          <a:noFill/>
        </a:ln>
      </c:spPr>
    </c:plotArea>
    <c:legend>
      <c:legendPos val="t"/>
      <c:overlay val="0"/>
      <c:spPr>
        <a:noFill/>
        <a:ln w="0">
          <a:noFill/>
        </a:ln>
      </c:spPr>
      <c:txPr>
        <a:bodyPr/>
        <a:lstStyle/>
        <a:p>
          <a:pPr>
            <a:defRPr b="0" sz="850" spc="-1" strike="noStrike">
              <a:solidFill>
                <a:srgbClr val="1b2a30"/>
              </a:solidFill>
              <a:latin typeface="Times New Roman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100" spc="-1" strike="noStrike">
                <a:solidFill>
                  <a:srgbClr val="000000"/>
                </a:solidFill>
                <a:latin typeface="Arial"/>
              </a:defRPr>
            </a:pPr>
            <a:r>
              <a:rPr b="0" sz="1100" spc="-1" strike="noStrike">
                <a:solidFill>
                  <a:srgbClr val="1b2a30"/>
                </a:solidFill>
                <a:latin typeface="Arial"/>
              </a:rPr>
              <a:t>Readmission by kidney stage (%)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Readmission</c:v>
                </c:pt>
              </c:strCache>
            </c:strRef>
          </c:tx>
          <c:spPr>
            <a:solidFill>
              <a:srgbClr val="5fa8d3"/>
            </a:solidFill>
            <a:ln w="38160">
              <a:solidFill>
                <a:srgbClr val="5fa8d3"/>
              </a:solidFill>
              <a:round/>
            </a:ln>
          </c:spPr>
          <c:marker>
            <c:symbol val="circle"/>
            <c:size val="9"/>
            <c:spPr>
              <a:solidFill>
                <a:srgbClr val="5fa8d3"/>
              </a:solidFill>
            </c:spPr>
          </c:marker>
          <c:dLbls>
            <c:numFmt formatCode="0.0\%" sourceLinked="0"/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G1</c:v>
                </c:pt>
                <c:pt idx="1">
                  <c:v>G2</c:v>
                </c:pt>
                <c:pt idx="2">
                  <c:v>G3a</c:v>
                </c:pt>
                <c:pt idx="3">
                  <c:v>G3b</c:v>
                </c:pt>
                <c:pt idx="4">
                  <c:v>G4</c:v>
                </c:pt>
                <c:pt idx="5">
                  <c:v>G5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30.8</c:v>
                </c:pt>
                <c:pt idx="1">
                  <c:v>36.1</c:v>
                </c:pt>
                <c:pt idx="2">
                  <c:v>44.5</c:v>
                </c:pt>
                <c:pt idx="3">
                  <c:v>50</c:v>
                </c:pt>
                <c:pt idx="4">
                  <c:v>40.9</c:v>
                </c:pt>
                <c:pt idx="5">
                  <c:v>34.2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21288233"/>
        <c:axId val="12372437"/>
      </c:lineChart>
      <c:catAx>
        <c:axId val="21288233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b5c4c9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12372437"/>
        <c:crosses val="autoZero"/>
        <c:auto val="1"/>
        <c:lblAlgn val="ctr"/>
        <c:lblOffset val="100"/>
        <c:noMultiLvlLbl val="0"/>
      </c:catAx>
      <c:valAx>
        <c:axId val="12372437"/>
        <c:scaling>
          <c:orientation val="minMax"/>
          <c:max val="58"/>
          <c:min val="2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b="0" sz="9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21288233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100" spc="-1" strike="noStrike">
                <a:solidFill>
                  <a:srgbClr val="000000"/>
                </a:solidFill>
                <a:latin typeface="Arial"/>
              </a:defRPr>
            </a:pPr>
            <a:r>
              <a:rPr b="0" sz="1100" spc="-1" strike="noStrike">
                <a:solidFill>
                  <a:srgbClr val="1b2a30"/>
                </a:solidFill>
                <a:latin typeface="Arial"/>
              </a:rPr>
              <a:t>Death by kidney stage (%)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Death</c:v>
                </c:pt>
              </c:strCache>
            </c:strRef>
          </c:tx>
          <c:spPr>
            <a:solidFill>
              <a:srgbClr val="e07a5f"/>
            </a:solidFill>
            <a:ln w="38160">
              <a:solidFill>
                <a:srgbClr val="e07a5f"/>
              </a:solidFill>
              <a:round/>
            </a:ln>
          </c:spPr>
          <c:marker>
            <c:symbol val="circle"/>
            <c:size val="9"/>
            <c:spPr>
              <a:solidFill>
                <a:srgbClr val="e07a5f"/>
              </a:solidFill>
            </c:spPr>
          </c:marker>
          <c:dLbls>
            <c:numFmt formatCode="0.0\%" sourceLinked="0"/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G1</c:v>
                </c:pt>
                <c:pt idx="1">
                  <c:v>G2</c:v>
                </c:pt>
                <c:pt idx="2">
                  <c:v>G3a</c:v>
                </c:pt>
                <c:pt idx="3">
                  <c:v>G3b</c:v>
                </c:pt>
                <c:pt idx="4">
                  <c:v>G4</c:v>
                </c:pt>
                <c:pt idx="5">
                  <c:v>G5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1.6</c:v>
                </c:pt>
                <c:pt idx="1">
                  <c:v>2.3</c:v>
                </c:pt>
                <c:pt idx="2">
                  <c:v>1.5</c:v>
                </c:pt>
                <c:pt idx="3">
                  <c:v>3</c:v>
                </c:pt>
                <c:pt idx="4">
                  <c:v>8</c:v>
                </c:pt>
                <c:pt idx="5">
                  <c:v>9.2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34362109"/>
        <c:axId val="338187"/>
      </c:lineChart>
      <c:catAx>
        <c:axId val="34362109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b5c4c9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338187"/>
        <c:crosses val="autoZero"/>
        <c:auto val="1"/>
        <c:lblAlgn val="ctr"/>
        <c:lblOffset val="100"/>
        <c:noMultiLvlLbl val="0"/>
      </c:catAx>
      <c:valAx>
        <c:axId val="338187"/>
        <c:scaling>
          <c:orientation val="minMax"/>
          <c:max val="11.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b="0" sz="9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34362109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100" spc="-1" strike="noStrike">
                <a:solidFill>
                  <a:srgbClr val="000000"/>
                </a:solidFill>
                <a:latin typeface="Arial"/>
              </a:defRPr>
            </a:pPr>
            <a:r>
              <a:rPr b="0" sz="1100" spc="-1" strike="noStrike">
                <a:solidFill>
                  <a:srgbClr val="1b2a30"/>
                </a:solidFill>
                <a:latin typeface="Arial"/>
              </a:rPr>
              <a:t>Death: severe HF and abnormal kidney results (%)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Death</c:v>
                </c:pt>
              </c:strCache>
            </c:strRef>
          </c:tx>
          <c:spPr>
            <a:solidFill>
              <a:srgbClr val="cfe3f1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cfe3f1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a9cde6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7fb4d9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c0543a"/>
              </a:solidFill>
              <a:ln w="0">
                <a:noFill/>
              </a:ln>
            </c:spPr>
          </c:dPt>
          <c:dLbls>
            <c:numFmt formatCode="0.0\%" sourceLinked="0"/>
            <c:dLbl>
              <c:idx val="0"/>
              <c:numFmt formatCode="0.0\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\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\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\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Neither (661)</c:v>
                </c:pt>
                <c:pt idx="1">
                  <c:v>Renal only (531)</c:v>
                </c:pt>
                <c:pt idx="2">
                  <c:v>Cardiac only (140)</c:v>
                </c:pt>
                <c:pt idx="3">
                  <c:v>Cardiac + renal (148)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1.4</c:v>
                </c:pt>
                <c:pt idx="1">
                  <c:v>2.1</c:v>
                </c:pt>
                <c:pt idx="2">
                  <c:v>3.6</c:v>
                </c:pt>
                <c:pt idx="3">
                  <c:v>14.2</c:v>
                </c:pt>
              </c:numCache>
            </c:numRef>
          </c:val>
        </c:ser>
        <c:gapWidth val="40"/>
        <c:overlap val="0"/>
        <c:axId val="60561410"/>
        <c:axId val="32721767"/>
      </c:barChart>
      <c:catAx>
        <c:axId val="6056141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b5c4c9"/>
            </a:solidFill>
            <a:round/>
          </a:ln>
        </c:spPr>
        <c:txPr>
          <a:bodyPr/>
          <a:lstStyle/>
          <a:p>
            <a:pPr>
              <a:defRPr b="0" sz="85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32721767"/>
        <c:crosses val="autoZero"/>
        <c:auto val="1"/>
        <c:lblAlgn val="ctr"/>
        <c:lblOffset val="100"/>
        <c:noMultiLvlLbl val="0"/>
      </c:catAx>
      <c:valAx>
        <c:axId val="32721767"/>
        <c:scaling>
          <c:orientation val="minMax"/>
          <c:max val="17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b="0" sz="9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60561410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100" spc="-1" strike="noStrike">
                <a:solidFill>
                  <a:srgbClr val="000000"/>
                </a:solidFill>
                <a:latin typeface="Arial"/>
              </a:defRPr>
            </a:pPr>
            <a:r>
              <a:rPr b="0" sz="1100" spc="-1" strike="noStrike">
                <a:solidFill>
                  <a:srgbClr val="1b2a30"/>
                </a:solidFill>
                <a:latin typeface="Arial"/>
              </a:rPr>
              <a:t>Death by potassium level, mmol/L (%)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Death</c:v>
                </c:pt>
              </c:strCache>
            </c:strRef>
          </c:tx>
          <c:spPr>
            <a:solidFill>
              <a:srgbClr val="cfe3f1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cfe3f1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a9cde6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7fb4d9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5fa8d3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c0543a"/>
              </a:solidFill>
              <a:ln w="0">
                <a:noFill/>
              </a:ln>
            </c:spPr>
          </c:dPt>
          <c:dLbls>
            <c:numFmt formatCode="0.0\%" sourceLinked="0"/>
            <c:dLbl>
              <c:idx val="0"/>
              <c:numFmt formatCode="0.0\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\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\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\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4"/>
              <c:numFmt formatCode="0.0\%" sourceLinked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&lt;3.5</c:v>
                </c:pt>
                <c:pt idx="1">
                  <c:v>3.5–5.0</c:v>
                </c:pt>
                <c:pt idx="2">
                  <c:v>5.1–5.5</c:v>
                </c:pt>
                <c:pt idx="3">
                  <c:v>5.6–6.0</c:v>
                </c:pt>
                <c:pt idx="4">
                  <c:v>&gt;6.0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1.9</c:v>
                </c:pt>
                <c:pt idx="1">
                  <c:v>2.3</c:v>
                </c:pt>
                <c:pt idx="2">
                  <c:v>6.9</c:v>
                </c:pt>
                <c:pt idx="3">
                  <c:v>11.4</c:v>
                </c:pt>
                <c:pt idx="4">
                  <c:v>14.8</c:v>
                </c:pt>
              </c:numCache>
            </c:numRef>
          </c:val>
        </c:ser>
        <c:gapWidth val="40"/>
        <c:overlap val="0"/>
        <c:axId val="8375434"/>
        <c:axId val="91922362"/>
      </c:barChart>
      <c:catAx>
        <c:axId val="837543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b5c4c9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91922362"/>
        <c:crosses val="autoZero"/>
        <c:auto val="1"/>
        <c:lblAlgn val="ctr"/>
        <c:lblOffset val="100"/>
        <c:noMultiLvlLbl val="0"/>
      </c:catAx>
      <c:valAx>
        <c:axId val="91922362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b="0" sz="9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8375434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100" spc="-1" strike="noStrike">
                <a:solidFill>
                  <a:srgbClr val="000000"/>
                </a:solidFill>
                <a:latin typeface="Arial"/>
              </a:defRPr>
            </a:pPr>
            <a:r>
              <a:rPr b="0" sz="1100" spc="-1" strike="noStrike">
                <a:solidFill>
                  <a:srgbClr val="1b2a30"/>
                </a:solidFill>
                <a:latin typeface="Arial"/>
              </a:rPr>
              <a:t>Echo recorded vs no echo (%)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Readmission</c:v>
                </c:pt>
              </c:strCache>
            </c:strRef>
          </c:tx>
          <c:spPr>
            <a:solidFill>
              <a:srgbClr val="5fa8d3"/>
            </a:solidFill>
            <a:ln w="0">
              <a:noFill/>
            </a:ln>
          </c:spPr>
          <c:invertIfNegative val="0"/>
          <c:dLbls>
            <c:numFmt formatCode="0.0\%" sourceLinked="0"/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2"/>
                <c:pt idx="0">
                  <c:v>Echo recorded</c:v>
                </c:pt>
                <c:pt idx="1">
                  <c:v>No echo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2"/>
                <c:pt idx="0">
                  <c:v>33.1</c:v>
                </c:pt>
                <c:pt idx="1">
                  <c:v>50.1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Death</c:v>
                </c:pt>
              </c:strCache>
            </c:strRef>
          </c:tx>
          <c:spPr>
            <a:solidFill>
              <a:srgbClr val="e07a5f"/>
            </a:solidFill>
            <a:ln w="0">
              <a:noFill/>
            </a:ln>
          </c:spPr>
          <c:invertIfNegative val="0"/>
          <c:dLbls>
            <c:numFmt formatCode="0.0\%" sourceLinked="0"/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2"/>
                <c:pt idx="0">
                  <c:v>Echo recorded</c:v>
                </c:pt>
                <c:pt idx="1">
                  <c:v>No echo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2"/>
                <c:pt idx="0">
                  <c:v>2.6</c:v>
                </c:pt>
                <c:pt idx="1">
                  <c:v>3.5</c:v>
                </c:pt>
              </c:numCache>
            </c:numRef>
          </c:val>
        </c:ser>
        <c:gapWidth val="60"/>
        <c:overlap val="0"/>
        <c:axId val="36965216"/>
        <c:axId val="75374149"/>
      </c:barChart>
      <c:catAx>
        <c:axId val="3696521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b5c4c9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75374149"/>
        <c:crosses val="autoZero"/>
        <c:auto val="1"/>
        <c:lblAlgn val="ctr"/>
        <c:lblOffset val="100"/>
        <c:noMultiLvlLbl val="0"/>
      </c:catAx>
      <c:valAx>
        <c:axId val="75374149"/>
        <c:scaling>
          <c:orientation val="minMax"/>
          <c:max val="60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b="0" sz="9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36965216"/>
        <c:crossBetween val="between"/>
      </c:valAx>
      <c:spPr>
        <a:noFill/>
        <a:ln w="0">
          <a:noFill/>
        </a:ln>
      </c:spPr>
    </c:plotArea>
    <c:legend>
      <c:legendPos val="t"/>
      <c:overlay val="0"/>
      <c:spPr>
        <a:noFill/>
        <a:ln w="0">
          <a:noFill/>
        </a:ln>
      </c:spPr>
      <c:txPr>
        <a:bodyPr/>
        <a:lstStyle/>
        <a:p>
          <a:pPr>
            <a:defRPr b="0" sz="900" spc="-1" strike="noStrike">
              <a:solidFill>
                <a:srgbClr val="1b2a30"/>
              </a:solidFill>
              <a:latin typeface="Times New Roman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100" spc="-1" strike="noStrike">
                <a:solidFill>
                  <a:srgbClr val="000000"/>
                </a:solidFill>
                <a:latin typeface="Arial"/>
              </a:defRPr>
            </a:pPr>
            <a:r>
              <a:rPr b="0" sz="1100" spc="-1" strike="noStrike">
                <a:solidFill>
                  <a:srgbClr val="1b2a30"/>
                </a:solidFill>
                <a:latin typeface="Arial"/>
              </a:rPr>
              <a:t>Regular discharge vs left against advice (%)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Regular discharge</c:v>
                </c:pt>
              </c:strCache>
            </c:strRef>
          </c:tx>
          <c:spPr>
            <a:solidFill>
              <a:srgbClr val="4cc3b0"/>
            </a:solidFill>
            <a:ln w="0">
              <a:noFill/>
            </a:ln>
          </c:spPr>
          <c:invertIfNegative val="0"/>
          <c:dLbls>
            <c:numFmt formatCode="0.0\%" sourceLinked="0"/>
            <c:txPr>
              <a:bodyPr wrap="square"/>
              <a:lstStyle/>
              <a:p>
                <a:pPr>
                  <a:defRPr b="0" sz="9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28-day death</c:v>
                </c:pt>
                <c:pt idx="1">
                  <c:v>Severe HF</c:v>
                </c:pt>
                <c:pt idx="2">
                  <c:v>6-month readmission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0.4</c:v>
                </c:pt>
                <c:pt idx="1">
                  <c:v>17.8</c:v>
                </c:pt>
                <c:pt idx="2">
                  <c:v>39.4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Left against advice</c:v>
                </c:pt>
              </c:strCache>
            </c:strRef>
          </c:tx>
          <c:spPr>
            <a:solidFill>
              <a:srgbClr val="f2a65a"/>
            </a:solidFill>
            <a:ln w="0">
              <a:noFill/>
            </a:ln>
          </c:spPr>
          <c:invertIfNegative val="0"/>
          <c:dLbls>
            <c:numFmt formatCode="0.0\%" sourceLinked="0"/>
            <c:txPr>
              <a:bodyPr wrap="square"/>
              <a:lstStyle/>
              <a:p>
                <a:pPr>
                  <a:defRPr b="0" sz="9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28-day death</c:v>
                </c:pt>
                <c:pt idx="1">
                  <c:v>Severe HF</c:v>
                </c:pt>
                <c:pt idx="2">
                  <c:v>6-month readmission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"/>
                <c:pt idx="0">
                  <c:v>18.7</c:v>
                </c:pt>
                <c:pt idx="1">
                  <c:v>38.3</c:v>
                </c:pt>
                <c:pt idx="2">
                  <c:v>26.2</c:v>
                </c:pt>
              </c:numCache>
            </c:numRef>
          </c:val>
        </c:ser>
        <c:gapWidth val="50"/>
        <c:overlap val="0"/>
        <c:axId val="22991412"/>
        <c:axId val="32823073"/>
      </c:barChart>
      <c:catAx>
        <c:axId val="2299141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b5c4c9"/>
            </a:solidFill>
            <a:round/>
          </a:ln>
        </c:spPr>
        <c:txPr>
          <a:bodyPr/>
          <a:lstStyle/>
          <a:p>
            <a:pPr>
              <a:defRPr b="0" sz="9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32823073"/>
        <c:crosses val="autoZero"/>
        <c:auto val="1"/>
        <c:lblAlgn val="ctr"/>
        <c:lblOffset val="100"/>
        <c:noMultiLvlLbl val="0"/>
      </c:catAx>
      <c:valAx>
        <c:axId val="32823073"/>
        <c:scaling>
          <c:orientation val="minMax"/>
          <c:max val="48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b="0" sz="9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22991412"/>
        <c:crossBetween val="between"/>
      </c:valAx>
      <c:spPr>
        <a:noFill/>
        <a:ln w="0">
          <a:noFill/>
        </a:ln>
      </c:spPr>
    </c:plotArea>
    <c:legend>
      <c:legendPos val="t"/>
      <c:overlay val="0"/>
      <c:spPr>
        <a:noFill/>
        <a:ln w="0">
          <a:noFill/>
        </a:ln>
      </c:spPr>
      <c:txPr>
        <a:bodyPr/>
        <a:lstStyle/>
        <a:p>
          <a:pPr>
            <a:defRPr b="0" sz="900" spc="-1" strike="noStrike">
              <a:solidFill>
                <a:srgbClr val="1b2a30"/>
              </a:solidFill>
              <a:latin typeface="Times New Roman"/>
            </a:defRPr>
          </a:pPr>
        </a:p>
      </c:txPr>
    </c:legend>
    <c:plotVisOnly val="1"/>
    <c:dispBlanksAs val="span"/>
  </c:chart>
  <c:spPr>
    <a:noFill/>
    <a:ln w="0">
      <a:noFill/>
    </a:ln>
  </c:spPr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100" spc="-1" strike="noStrike">
                <a:solidFill>
                  <a:srgbClr val="000000"/>
                </a:solidFill>
                <a:latin typeface="Arial"/>
              </a:defRPr>
            </a:pPr>
            <a:r>
              <a:rPr b="0" sz="1100" spc="-1" strike="noStrike">
                <a:solidFill>
                  <a:srgbClr val="1b2a30"/>
                </a:solidFill>
                <a:latin typeface="Arial"/>
              </a:rPr>
              <a:t>Model accuracy (ROC-AUC)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e07a5f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e07a5f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e07a5f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e07a5f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e07a5f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e07a5f"/>
              </a:solidFill>
              <a:ln w="0">
                <a:noFill/>
              </a:ln>
            </c:spPr>
          </c:dPt>
          <c:dPt>
            <c:idx val="5"/>
            <c:invertIfNegative val="0"/>
            <c:spPr>
              <a:solidFill>
                <a:srgbClr val="e07a5f"/>
              </a:solidFill>
              <a:ln w="0">
                <a:noFill/>
              </a:ln>
            </c:spPr>
          </c:dPt>
          <c:dPt>
            <c:idx val="6"/>
            <c:invertIfNegative val="0"/>
            <c:spPr>
              <a:solidFill>
                <a:srgbClr val="e07a5f"/>
              </a:solidFill>
              <a:ln w="0">
                <a:noFill/>
              </a:ln>
            </c:spPr>
          </c:dPt>
          <c:dPt>
            <c:idx val="7"/>
            <c:invertIfNegative val="0"/>
            <c:spPr>
              <a:solidFill>
                <a:srgbClr val="5fa8d3"/>
              </a:solidFill>
              <a:ln w="0">
                <a:noFill/>
              </a:ln>
            </c:spPr>
          </c:dPt>
          <c:dPt>
            <c:idx val="8"/>
            <c:invertIfNegative val="0"/>
            <c:spPr>
              <a:solidFill>
                <a:srgbClr val="5fa8d3"/>
              </a:solidFill>
              <a:ln w="0">
                <a:noFill/>
              </a:ln>
            </c:spPr>
          </c:dPt>
          <c:dPt>
            <c:idx val="9"/>
            <c:invertIfNegative val="0"/>
            <c:spPr>
              <a:solidFill>
                <a:srgbClr val="5fa8d3"/>
              </a:solidFill>
              <a:ln w="0">
                <a:noFill/>
              </a:ln>
            </c:spPr>
          </c:dPt>
          <c:dPt>
            <c:idx val="10"/>
            <c:invertIfNegative val="0"/>
            <c:spPr>
              <a:solidFill>
                <a:srgbClr val="e07a5f"/>
              </a:solidFill>
              <a:ln w="0">
                <a:noFill/>
              </a:ln>
            </c:spPr>
          </c:dPt>
          <c:dPt>
            <c:idx val="11"/>
            <c:invertIfNegative val="0"/>
            <c:spPr>
              <a:solidFill>
                <a:srgbClr val="c5cdd1"/>
              </a:solidFill>
              <a:ln w="0">
                <a:noFill/>
              </a:ln>
            </c:spPr>
          </c:dPt>
          <c:dPt>
            <c:idx val="12"/>
            <c:invertIfNegative val="0"/>
            <c:spPr>
              <a:solidFill>
                <a:srgbClr val="c5cdd1"/>
              </a:solidFill>
              <a:ln w="0">
                <a:noFill/>
              </a:ln>
            </c:spPr>
          </c:dPt>
          <c:dLbls>
            <c:numFmt formatCode="0.000" sourceLinked="0"/>
            <c:dLbl>
              <c:idx val="0"/>
              <c:numFmt formatCode="0.000" sourceLinked="0"/>
              <c:txPr>
                <a:bodyPr wrap="square"/>
                <a:lstStyle/>
                <a:p>
                  <a:pPr>
                    <a:defRPr b="0" sz="7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00" sourceLinked="0"/>
              <c:txPr>
                <a:bodyPr wrap="square"/>
                <a:lstStyle/>
                <a:p>
                  <a:pPr>
                    <a:defRPr b="0" sz="7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00" sourceLinked="0"/>
              <c:txPr>
                <a:bodyPr wrap="square"/>
                <a:lstStyle/>
                <a:p>
                  <a:pPr>
                    <a:defRPr b="0" sz="7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00" sourceLinked="0"/>
              <c:txPr>
                <a:bodyPr wrap="square"/>
                <a:lstStyle/>
                <a:p>
                  <a:pPr>
                    <a:defRPr b="0" sz="7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4"/>
              <c:numFmt formatCode="0.000" sourceLinked="0"/>
              <c:txPr>
                <a:bodyPr wrap="square"/>
                <a:lstStyle/>
                <a:p>
                  <a:pPr>
                    <a:defRPr b="0" sz="7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5"/>
              <c:numFmt formatCode="0.000" sourceLinked="0"/>
              <c:txPr>
                <a:bodyPr wrap="square"/>
                <a:lstStyle/>
                <a:p>
                  <a:pPr>
                    <a:defRPr b="0" sz="7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6"/>
              <c:numFmt formatCode="0.000" sourceLinked="0"/>
              <c:txPr>
                <a:bodyPr wrap="square"/>
                <a:lstStyle/>
                <a:p>
                  <a:pPr>
                    <a:defRPr b="0" sz="7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7"/>
              <c:numFmt formatCode="0.000" sourceLinked="0"/>
              <c:txPr>
                <a:bodyPr wrap="square"/>
                <a:lstStyle/>
                <a:p>
                  <a:pPr>
                    <a:defRPr b="0" sz="7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8"/>
              <c:numFmt formatCode="0.000" sourceLinked="0"/>
              <c:txPr>
                <a:bodyPr wrap="square"/>
                <a:lstStyle/>
                <a:p>
                  <a:pPr>
                    <a:defRPr b="0" sz="7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9"/>
              <c:numFmt formatCode="0.000" sourceLinked="0"/>
              <c:txPr>
                <a:bodyPr wrap="square"/>
                <a:lstStyle/>
                <a:p>
                  <a:pPr>
                    <a:defRPr b="0" sz="7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0"/>
              <c:numFmt formatCode="0.000" sourceLinked="0"/>
              <c:txPr>
                <a:bodyPr wrap="square"/>
                <a:lstStyle/>
                <a:p>
                  <a:pPr>
                    <a:defRPr b="0" sz="7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1"/>
              <c:numFmt formatCode="0.000" sourceLinked="0"/>
              <c:txPr>
                <a:bodyPr wrap="square"/>
                <a:lstStyle/>
                <a:p>
                  <a:pPr>
                    <a:defRPr b="0" sz="7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2"/>
              <c:numFmt formatCode="0.000" sourceLinked="0"/>
              <c:txPr>
                <a:bodyPr wrap="square"/>
                <a:lstStyle/>
                <a:p>
                  <a:pPr>
                    <a:defRPr b="0" sz="75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75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13"/>
                <c:pt idx="0">
                  <c:v>28-day death</c:v>
                </c:pt>
                <c:pt idx="1">
                  <c:v>3-month death</c:v>
                </c:pt>
                <c:pt idx="2">
                  <c:v>28-day death: severity + GCS</c:v>
                </c:pt>
                <c:pt idx="3">
                  <c:v>Elderly 6-month death</c:v>
                </c:pt>
                <c:pt idx="4">
                  <c:v>6-month death: all categories</c:v>
                </c:pt>
                <c:pt idx="5">
                  <c:v>6-month death: + HF subtype</c:v>
                </c:pt>
                <c:pt idx="6">
                  <c:v>6-month death: full admission</c:v>
                </c:pt>
                <c:pt idx="7">
                  <c:v>Need for digitalis</c:v>
                </c:pt>
                <c:pt idx="8">
                  <c:v>HFrEF before echo</c:v>
                </c:pt>
                <c:pt idx="9">
                  <c:v>Need for IV inotropes</c:v>
                </c:pt>
                <c:pt idx="10">
                  <c:v>6-month death: severity only</c:v>
                </c:pt>
                <c:pt idx="11">
                  <c:v>6-month readmission</c:v>
                </c:pt>
                <c:pt idx="12">
                  <c:v>28-day readmission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3"/>
                <c:pt idx="0">
                  <c:v>0.902</c:v>
                </c:pt>
                <c:pt idx="1">
                  <c:v>0.877</c:v>
                </c:pt>
                <c:pt idx="2">
                  <c:v>0.843</c:v>
                </c:pt>
                <c:pt idx="3">
                  <c:v>0.816</c:v>
                </c:pt>
                <c:pt idx="4">
                  <c:v>0.798</c:v>
                </c:pt>
                <c:pt idx="5">
                  <c:v>0.778</c:v>
                </c:pt>
                <c:pt idx="6">
                  <c:v>0.777</c:v>
                </c:pt>
                <c:pt idx="7">
                  <c:v>0.765</c:v>
                </c:pt>
                <c:pt idx="8">
                  <c:v>0.759</c:v>
                </c:pt>
                <c:pt idx="9">
                  <c:v>0.754</c:v>
                </c:pt>
                <c:pt idx="10">
                  <c:v>0.745</c:v>
                </c:pt>
                <c:pt idx="11">
                  <c:v>0.666</c:v>
                </c:pt>
                <c:pt idx="12">
                  <c:v>0.664</c:v>
                </c:pt>
              </c:numCache>
            </c:numRef>
          </c:val>
        </c:ser>
        <c:gapWidth val="25"/>
        <c:overlap val="0"/>
        <c:axId val="18323369"/>
        <c:axId val="92524183"/>
      </c:barChart>
      <c:catAx>
        <c:axId val="18323369"/>
        <c:scaling>
          <c:orientation val="maxMin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b5c4c9"/>
            </a:solidFill>
            <a:round/>
          </a:ln>
        </c:spPr>
        <c:txPr>
          <a:bodyPr/>
          <a:lstStyle/>
          <a:p>
            <a:pPr>
              <a:defRPr b="0" sz="75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92524183"/>
        <c:crosses val="autoZero"/>
        <c:auto val="1"/>
        <c:lblAlgn val="ctr"/>
        <c:lblOffset val="100"/>
        <c:noMultiLvlLbl val="0"/>
      </c:catAx>
      <c:valAx>
        <c:axId val="92524183"/>
        <c:scaling>
          <c:orientation val="minMax"/>
          <c:max val="1"/>
          <c:min val="0.5"/>
        </c:scaling>
        <c:delete val="1"/>
        <c:axPos val="l"/>
        <c:numFmt formatCode="General" sourceLinked="1"/>
        <c:majorTickMark val="out"/>
        <c:minorTickMark val="none"/>
        <c:tickLblPos val="low"/>
        <c:spPr>
          <a:ln w="12600">
            <a:noFill/>
          </a:ln>
        </c:spPr>
        <c:txPr>
          <a:bodyPr/>
          <a:lstStyle/>
          <a:p>
            <a:pPr>
              <a:defRPr b="0" sz="9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18323369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100" spc="-1" strike="noStrike">
                <a:solidFill>
                  <a:srgbClr val="000000"/>
                </a:solidFill>
                <a:latin typeface="Arial"/>
              </a:defRPr>
            </a:pPr>
            <a:r>
              <a:rPr b="0" sz="1100" spc="-1" strike="noStrike">
                <a:solidFill>
                  <a:srgbClr val="1b2a30"/>
                </a:solidFill>
                <a:latin typeface="Arial"/>
              </a:rPr>
              <a:t>28-day death by risk decile (%)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Observed</c:v>
                </c:pt>
              </c:strCache>
            </c:strRef>
          </c:tx>
          <c:spPr>
            <a:solidFill>
              <a:srgbClr val="e4e0f3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e4e0f3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e4e0f3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d3cceb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d3cceb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bdb2e0"/>
              </a:solidFill>
              <a:ln w="0">
                <a:noFill/>
              </a:ln>
            </c:spPr>
          </c:dPt>
          <c:dPt>
            <c:idx val="5"/>
            <c:invertIfNegative val="0"/>
            <c:spPr>
              <a:solidFill>
                <a:srgbClr val="bdb2e0"/>
              </a:solidFill>
              <a:ln w="0">
                <a:noFill/>
              </a:ln>
            </c:spPr>
          </c:dPt>
          <c:dPt>
            <c:idx val="6"/>
            <c:invertIfNegative val="0"/>
            <c:spPr>
              <a:solidFill>
                <a:srgbClr val="a393d2"/>
              </a:solidFill>
              <a:ln w="0">
                <a:noFill/>
              </a:ln>
            </c:spPr>
          </c:dPt>
          <c:dPt>
            <c:idx val="7"/>
            <c:invertIfNegative val="0"/>
            <c:spPr>
              <a:solidFill>
                <a:srgbClr val="a393d2"/>
              </a:solidFill>
              <a:ln w="0">
                <a:noFill/>
              </a:ln>
            </c:spPr>
          </c:dPt>
          <c:dPt>
            <c:idx val="8"/>
            <c:invertIfNegative val="0"/>
            <c:spPr>
              <a:solidFill>
                <a:srgbClr val="8b79c4"/>
              </a:solidFill>
              <a:ln w="0">
                <a:noFill/>
              </a:ln>
            </c:spPr>
          </c:dPt>
          <c:dPt>
            <c:idx val="9"/>
            <c:invertIfNegative val="0"/>
            <c:spPr>
              <a:solidFill>
                <a:srgbClr val="5e4f99"/>
              </a:solidFill>
              <a:ln w="0">
                <a:noFill/>
              </a:ln>
            </c:spPr>
          </c:dPt>
          <c:dLbls>
            <c:numFmt formatCode="0.0\%" sourceLinked="0"/>
            <c:dLbl>
              <c:idx val="0"/>
              <c:numFmt formatCode="0.0\%" sourceLinked="0"/>
              <c:txPr>
                <a:bodyPr wrap="square"/>
                <a:lstStyle/>
                <a:p>
                  <a:pPr>
                    <a:defRPr b="0" sz="9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0.0\%" sourceLinked="0"/>
              <c:txPr>
                <a:bodyPr wrap="square"/>
                <a:lstStyle/>
                <a:p>
                  <a:pPr>
                    <a:defRPr b="0" sz="9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0.0\%" sourceLinked="0"/>
              <c:txPr>
                <a:bodyPr wrap="square"/>
                <a:lstStyle/>
                <a:p>
                  <a:pPr>
                    <a:defRPr b="0" sz="9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0.0\%" sourceLinked="0"/>
              <c:txPr>
                <a:bodyPr wrap="square"/>
                <a:lstStyle/>
                <a:p>
                  <a:pPr>
                    <a:defRPr b="0" sz="9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4"/>
              <c:numFmt formatCode="0.0\%" sourceLinked="0"/>
              <c:txPr>
                <a:bodyPr wrap="square"/>
                <a:lstStyle/>
                <a:p>
                  <a:pPr>
                    <a:defRPr b="0" sz="9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5"/>
              <c:numFmt formatCode="0.0\%" sourceLinked="0"/>
              <c:txPr>
                <a:bodyPr wrap="square"/>
                <a:lstStyle/>
                <a:p>
                  <a:pPr>
                    <a:defRPr b="0" sz="9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6"/>
              <c:numFmt formatCode="0.0\%" sourceLinked="0"/>
              <c:txPr>
                <a:bodyPr wrap="square"/>
                <a:lstStyle/>
                <a:p>
                  <a:pPr>
                    <a:defRPr b="0" sz="9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7"/>
              <c:numFmt formatCode="0.0\%" sourceLinked="0"/>
              <c:txPr>
                <a:bodyPr wrap="square"/>
                <a:lstStyle/>
                <a:p>
                  <a:pPr>
                    <a:defRPr b="0" sz="9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8"/>
              <c:numFmt formatCode="0.0\%" sourceLinked="0"/>
              <c:txPr>
                <a:bodyPr wrap="square"/>
                <a:lstStyle/>
                <a:p>
                  <a:pPr>
                    <a:defRPr b="0" sz="9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9"/>
              <c:numFmt formatCode="0.0\%" sourceLinked="0"/>
              <c:txPr>
                <a:bodyPr wrap="square"/>
                <a:lstStyle/>
                <a:p>
                  <a:pPr>
                    <a:defRPr b="0" sz="900" spc="-1" strike="noStrike">
                      <a:solidFill>
                        <a:srgbClr val="1b2a30"/>
                      </a:solidFill>
                      <a:latin typeface="Times New Roman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900" spc="-1" strike="noStrike">
                    <a:solidFill>
                      <a:srgbClr val="1b2a30"/>
                    </a:solidFill>
                    <a:latin typeface="Times New Roman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0.5</c:v>
                </c:pt>
                <c:pt idx="5">
                  <c:v>0</c:v>
                </c:pt>
                <c:pt idx="6">
                  <c:v>1.5</c:v>
                </c:pt>
                <c:pt idx="7">
                  <c:v>1</c:v>
                </c:pt>
                <c:pt idx="8">
                  <c:v>3</c:v>
                </c:pt>
                <c:pt idx="9">
                  <c:v>12.4</c:v>
                </c:pt>
              </c:numCache>
            </c:numRef>
          </c:val>
        </c:ser>
        <c:gapWidth val="30"/>
        <c:overlap val="0"/>
        <c:axId val="19318914"/>
        <c:axId val="37930782"/>
      </c:barChart>
      <c:catAx>
        <c:axId val="1931891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b5c4c9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37930782"/>
        <c:crosses val="autoZero"/>
        <c:auto val="1"/>
        <c:lblAlgn val="ctr"/>
        <c:lblOffset val="100"/>
        <c:noMultiLvlLbl val="0"/>
      </c:catAx>
      <c:valAx>
        <c:axId val="37930782"/>
        <c:scaling>
          <c:orientation val="minMax"/>
          <c:max val="14.5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b="0" sz="900" spc="-1" strike="noStrike">
                <a:solidFill>
                  <a:srgbClr val="5a6b72"/>
                </a:solidFill>
                <a:latin typeface="Times New Roman"/>
              </a:defRPr>
            </a:pPr>
          </a:p>
        </c:txPr>
        <c:crossAx val="19318914"/>
        <c:crossBetween val="between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IN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IN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5CD0ED0-F5A4-4FAF-8CB6-BD6CCB9E5B23}" type="slidenum">
              <a:rPr b="0" lang="en-IN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IN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Introduce the dataset: 2,008 hospitalized heart-failure patients from PhysioNet (Sichuan, China, 2016–2019), linking hospital records with 28-day, 3-month and 6-month outcomes. Then introduce the team: Snehalatha, Rashmi, Sandhya and Jayasree.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115AD3-7F96-4E89-A337-19C497346B0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These are the eight KPI cards shown above the dashboard tabs. The two outcome KPIs set the story: 38.5% of patients are readmitted within six months but only 2.8% die. The cohort is old (73% aged 69+), half arrive as emergencies, and two process KPIs — 5.3% leaving against advice and a 31.7% echo gap — come back in the prescriptive section.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F4FACE-4026-4AF0-A406-359F231AB97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Left: number of patients in each age group by gender (pink = female, blue = male). The bulk of the cohort is 69–89, where women outnumber men. Right: share of patients who are underweight in each age group; it is highest in the oldest group (the 21–29 bar is 0% but has only 4 patients). This frail, elderly profile shapes every recommendation that follows.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6EE82B-9DE8-40E9-8744-5540FF09D54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Left: cumulative percentage readmitted (blue) and dead (red) by 28 days, 3 months and 6 months. The two lines move apart — readmission is the long-term burden. Right: day-by-day cumulative mortality over the first 28 days for each consciousness level. The clear group stays near 1%, while the unresponsive group climbs to 91%, mostly within the first week.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708D0E-1B14-4159-BBAC-24FCA57A54A3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Two line charts across kidney-function stages. The readmission line is an arch that peaks in the middle; the mortality line is flat and then shoots up at the severe end. A single straight-line kidney score misses both patterns, so the two risk groups need two different care plans.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5A3E2C-8032-4771-9F6F-4B4B7C7D6E8E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heatmap shows 28-day readmission for each combination of heart-failure severity (rows) and admission type (columns); darker blue means more readmissions, and n is the number of patients in each cell. Risk climbs down the rows and is highest in the bottom-left cell. The tiles on the right compare this high-risk group with everyone else, which gives a simple two-tier follow-up plan.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29410A-6B5A-4992-B5DF-9900975FD67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Left: 6-month mortality in biventricular heart failure, split by severe heart failure (cardiac) and abnormal kidney function (renal), with patient counts. Each problem alone adds little; together they multiply risk. Right: 6-month mortality by admission potassium band. Normal potassium is about 2%; the risk climbs step by step above 5.0. Spironolactone use stays high even in the highest band, which is a medication-safety flag.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B6642B-FE9A-42A6-81E2-A9E12AAC6D6A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Left: 6-month readmission (blue) and death (red) for patients with and without an echocardiogram recorded. Right: patients who left against medical advice (orange) compared with regular discharges (aqua). They are sicker and far more likely to die early; their lower readmission rate partly reflects that many die before they can be readmitted. Both gaps are process fixes, not new treatments.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FA6C46-5850-4F4F-8400-B75C94D4789A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Left: every model in the dashboard leaderboard, ranked by cross-validated ROC-AUC (0.5 = chance, 1 = perfect). Red = mortality, blue = treatment/phenotype, grey = readmission models, which stay below the 0.7 'acceptable' line. Right: from the interactive model explorer — patients sorted into 10 equal groups by predicted 28-day death risk. Almost all deaths fall in the highest-risk group, which is what a useful alert list needs. Main drivers are Killip class, severe HF, troponin, urea and consciousness.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E54E9B-7619-4D39-BDB7-AC9F6872712A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Close with one line per category: the KPIs show readmission is the main burden; the descriptive tab shows who the patients are and when outcomes happen; the prescriptive tab turns each risk group into a concrete action; the predictive tab shows early death can be flagged at admission. Invite questions and point to the live dashboard.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F96BF0-DB21-4FFC-B04C-8B0657210A0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Close with one line per category: the KPIs show readmission is the main burden; the descriptive tab shows who the patients are and when outcomes happen; the prescriptive tab turns each risk group into a concrete action; the predictive tab shows early death can be flagged at admission. Invite questions and point to the live dashboard.</a:t>
            </a:r>
            <a:endParaRPr b="0" lang="en-IN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7B7DFC-70F7-41E5-BC22-52B6F6782F3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N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hyperlink" Target="http://localhost:8501/" TargetMode="External"/><Relationship Id="rId4" Type="http://schemas.openxmlformats.org/officeDocument/2006/relationships/hyperlink" Target="https://github.com/snehaboddukuri/Team5_PyCraft_Python-Hackathon_SEP2026" TargetMode="External"/><Relationship Id="rId5" Type="http://schemas.openxmlformats.org/officeDocument/2006/relationships/image" Target="../media/image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chart" Target="../charts/chart11.xml"/><Relationship Id="rId3" Type="http://schemas.openxmlformats.org/officeDocument/2006/relationships/chart" Target="../charts/chart12.xml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hyperlink" Target="http://localhost:8501/" TargetMode="External"/><Relationship Id="rId7" Type="http://schemas.openxmlformats.org/officeDocument/2006/relationships/image" Target="../media/image3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48640" y="548640"/>
            <a:ext cx="2742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548640" y="868680"/>
            <a:ext cx="475380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Hospitalized Patients with Heart Failure</a:t>
            </a:r>
            <a:endParaRPr b="0" lang="en-IN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548640" y="2011680"/>
            <a:ext cx="45709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c9dde1"/>
                </a:solidFill>
                <a:latin typeface="Times New Roman"/>
                <a:ea typeface="Times New Roman"/>
              </a:rPr>
              <a:t>Integrating Electronic Healthcare Records and External Outcome Data</a:t>
            </a:r>
            <a:endParaRPr b="0" lang="en-IN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548640" y="2487240"/>
            <a:ext cx="4753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9fbec5"/>
                </a:solidFill>
                <a:latin typeface="Times New Roman"/>
                <a:ea typeface="Times New Roman"/>
              </a:rPr>
              <a:t>PhysioNet  ·  2,008 patients  ·  Sichuan, China  ·  2016–2019</a:t>
            </a:r>
            <a:endParaRPr b="0" lang="en-IN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4"/>
          <p:cNvSpPr/>
          <p:nvPr/>
        </p:nvSpPr>
        <p:spPr>
          <a:xfrm>
            <a:off x="548640" y="2926080"/>
            <a:ext cx="731520" cy="360"/>
          </a:xfrm>
          <a:prstGeom prst="line">
            <a:avLst/>
          </a:prstGeom>
          <a:ln w="19080">
            <a:solidFill>
              <a:srgbClr val="4cc3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548640" y="3063240"/>
            <a:ext cx="4570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Team05 PyCraft</a:t>
            </a:r>
            <a:endParaRPr b="0" lang="en-IN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548640" y="3401640"/>
            <a:ext cx="319932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177840" indent="-177840" defTabSz="914400">
              <a:lnSpc>
                <a:spcPct val="100000"/>
              </a:lnSpc>
              <a:spcAft>
                <a:spcPts val="300"/>
              </a:spcAft>
              <a:buClr>
                <a:srgbClr val="c9dde1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c9dde1"/>
                </a:solidFill>
                <a:latin typeface="Times New Roman"/>
                <a:ea typeface="Times New Roman"/>
              </a:rPr>
              <a:t>Snehalatha</a:t>
            </a:r>
            <a:endParaRPr b="0" lang="en-IN" sz="1500" spc="-1" strike="noStrike">
              <a:solidFill>
                <a:srgbClr val="ffffff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300"/>
              </a:spcAft>
              <a:buClr>
                <a:srgbClr val="c9dde1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c9dde1"/>
                </a:solidFill>
                <a:latin typeface="Times New Roman"/>
                <a:ea typeface="Times New Roman"/>
              </a:rPr>
              <a:t>Rashmi</a:t>
            </a:r>
            <a:endParaRPr b="0" lang="en-IN" sz="1500" spc="-1" strike="noStrike">
              <a:solidFill>
                <a:srgbClr val="ffffff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300"/>
              </a:spcAft>
              <a:buClr>
                <a:srgbClr val="c9dde1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c9dde1"/>
                </a:solidFill>
                <a:latin typeface="Times New Roman"/>
                <a:ea typeface="Times New Roman"/>
              </a:rPr>
              <a:t>Sandhya</a:t>
            </a:r>
            <a:endParaRPr b="0" lang="en-IN" sz="1500" spc="-1" strike="noStrike">
              <a:solidFill>
                <a:srgbClr val="ffffff"/>
              </a:solidFill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300"/>
              </a:spcAft>
              <a:buClr>
                <a:srgbClr val="c9dde1"/>
              </a:buClr>
              <a:buFont typeface="Symbol" charset="2"/>
              <a:buChar char=""/>
            </a:pPr>
            <a:r>
              <a:rPr b="0" lang="en-US" sz="1500" spc="-1" strike="noStrike">
                <a:solidFill>
                  <a:srgbClr val="c9dde1"/>
                </a:solidFill>
                <a:latin typeface="Times New Roman"/>
                <a:ea typeface="Times New Roman"/>
              </a:rPr>
              <a:t>Jayasree</a:t>
            </a:r>
            <a:endParaRPr b="0" lang="en-IN" sz="15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" name="Image 0" descr="img/team2.png"/>
          <p:cNvPicPr/>
          <p:nvPr/>
        </p:nvPicPr>
        <p:blipFill>
          <a:blip r:embed="rId2"/>
          <a:stretch/>
        </p:blipFill>
        <p:spPr>
          <a:xfrm>
            <a:off x="5257800" y="914400"/>
            <a:ext cx="3565080" cy="3208320"/>
          </a:xfrm>
          <a:prstGeom prst="rect">
            <a:avLst/>
          </a:prstGeom>
          <a:ln w="0">
            <a:noFill/>
          </a:ln>
        </p:spPr>
      </p:pic>
      <p:sp>
        <p:nvSpPr>
          <p:cNvPr id="18" name="Text 7"/>
          <p:cNvSpPr/>
          <p:nvPr/>
        </p:nvSpPr>
        <p:spPr>
          <a:xfrm>
            <a:off x="5257800" y="4434840"/>
            <a:ext cx="35650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Freeform 5"/>
          <p:cNvSpPr/>
          <p:nvPr/>
        </p:nvSpPr>
        <p:spPr>
          <a:xfrm>
            <a:off x="8629560" y="30600"/>
            <a:ext cx="484920" cy="799560"/>
          </a:xfrm>
          <a:custGeom>
            <a:avLst/>
            <a:gdLst>
              <a:gd name="textAreaLeft" fmla="*/ 0 w 484920"/>
              <a:gd name="textAreaRight" fmla="*/ 485640 w 484920"/>
              <a:gd name="textAreaTop" fmla="*/ 0 h 799560"/>
              <a:gd name="textAreaBottom" fmla="*/ 800280 h 799560"/>
            </a:gdLst>
            <a:ahLst/>
            <a:rect l="textAreaLeft" t="textAreaTop" r="textAreaRight" b="textAreaBottom"/>
            <a:pathLst>
              <a:path w="647700" h="1066800">
                <a:moveTo>
                  <a:pt x="0" y="0"/>
                </a:moveTo>
                <a:lnTo>
                  <a:pt x="647700" y="0"/>
                </a:lnTo>
                <a:lnTo>
                  <a:pt x="647700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457200" y="228600"/>
            <a:ext cx="1233360" cy="245880"/>
          </a:xfrm>
          <a:prstGeom prst="roundRect">
            <a:avLst>
              <a:gd name="adj" fmla="val 48148"/>
            </a:avLst>
          </a:prstGeom>
          <a:solidFill>
            <a:srgbClr val="e07a5f"/>
          </a:solidFill>
          <a:ln w="12600">
            <a:solidFill>
              <a:srgbClr val="e07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457200" y="228600"/>
            <a:ext cx="123336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7" strike="noStrike">
                <a:solidFill>
                  <a:srgbClr val="ffffff"/>
                </a:solidFill>
                <a:latin typeface="Times New Roman"/>
                <a:ea typeface="Times New Roman"/>
              </a:rPr>
              <a:t>KPIS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783080" y="228600"/>
            <a:ext cx="274212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420840" y="504000"/>
            <a:ext cx="8228520" cy="73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Key Performance Indicators</a:t>
            </a:r>
            <a:endParaRPr b="0" lang="en-IN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51206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e07a5f"/>
          </a:solidFill>
          <a:ln w="9360">
            <a:solidFill>
              <a:srgbClr val="e07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6"/>
          <p:cNvSpPr/>
          <p:nvPr/>
        </p:nvSpPr>
        <p:spPr>
          <a:xfrm>
            <a:off x="51206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KPIs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60260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60260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Descriptive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69310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69310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Prescriptive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78364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78364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Predictive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Shape 13"/>
          <p:cNvSpPr/>
          <p:nvPr/>
        </p:nvSpPr>
        <p:spPr>
          <a:xfrm>
            <a:off x="457200" y="1298520"/>
            <a:ext cx="1937520" cy="9864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Shape 14"/>
          <p:cNvSpPr/>
          <p:nvPr/>
        </p:nvSpPr>
        <p:spPr>
          <a:xfrm>
            <a:off x="594360" y="1426320"/>
            <a:ext cx="127080" cy="127080"/>
          </a:xfrm>
          <a:prstGeom prst="ellipse">
            <a:avLst/>
          </a:prstGeom>
          <a:solidFill>
            <a:srgbClr val="3d7ea6"/>
          </a:solidFill>
          <a:ln w="126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3720" rIns="6372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15"/>
          <p:cNvSpPr/>
          <p:nvPr/>
        </p:nvSpPr>
        <p:spPr>
          <a:xfrm>
            <a:off x="786240" y="1371600"/>
            <a:ext cx="155340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Patients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16"/>
          <p:cNvSpPr/>
          <p:nvPr/>
        </p:nvSpPr>
        <p:spPr>
          <a:xfrm>
            <a:off x="594360" y="1600200"/>
            <a:ext cx="1736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2,008</a:t>
            </a:r>
            <a:endParaRPr b="0" lang="en-IN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594360" y="2002680"/>
            <a:ext cx="178200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58% female · 73% aged 69+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18"/>
          <p:cNvSpPr/>
          <p:nvPr/>
        </p:nvSpPr>
        <p:spPr>
          <a:xfrm>
            <a:off x="2541960" y="1298520"/>
            <a:ext cx="1937520" cy="9864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19"/>
          <p:cNvSpPr/>
          <p:nvPr/>
        </p:nvSpPr>
        <p:spPr>
          <a:xfrm>
            <a:off x="2679120" y="1426320"/>
            <a:ext cx="127080" cy="127080"/>
          </a:xfrm>
          <a:prstGeom prst="ellipse">
            <a:avLst/>
          </a:prstGeom>
          <a:solidFill>
            <a:srgbClr val="5fa8d3"/>
          </a:solidFill>
          <a:ln w="12600">
            <a:solidFill>
              <a:srgbClr val="5fa8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3720" rIns="6372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20"/>
          <p:cNvSpPr/>
          <p:nvPr/>
        </p:nvSpPr>
        <p:spPr>
          <a:xfrm>
            <a:off x="2871360" y="1371600"/>
            <a:ext cx="155340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6-month readmission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21"/>
          <p:cNvSpPr/>
          <p:nvPr/>
        </p:nvSpPr>
        <p:spPr>
          <a:xfrm>
            <a:off x="2679120" y="1600200"/>
            <a:ext cx="1736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38.5%</a:t>
            </a:r>
            <a:endParaRPr b="0" lang="en-IN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2679120" y="2002680"/>
            <a:ext cx="178200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28-day 7.0% · 3-month 24.8%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4626720" y="1298520"/>
            <a:ext cx="1937520" cy="9864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24"/>
          <p:cNvSpPr/>
          <p:nvPr/>
        </p:nvSpPr>
        <p:spPr>
          <a:xfrm>
            <a:off x="4763880" y="1426320"/>
            <a:ext cx="127080" cy="127080"/>
          </a:xfrm>
          <a:prstGeom prst="ellipse">
            <a:avLst/>
          </a:prstGeom>
          <a:solidFill>
            <a:srgbClr val="e07a5f"/>
          </a:solidFill>
          <a:ln w="12600">
            <a:solidFill>
              <a:srgbClr val="e07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3720" rIns="6372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4956120" y="1371600"/>
            <a:ext cx="155340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6-month mortality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26"/>
          <p:cNvSpPr/>
          <p:nvPr/>
        </p:nvSpPr>
        <p:spPr>
          <a:xfrm>
            <a:off x="4763880" y="1600200"/>
            <a:ext cx="1736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2.8%</a:t>
            </a:r>
            <a:endParaRPr b="0" lang="en-IN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27"/>
          <p:cNvSpPr/>
          <p:nvPr/>
        </p:nvSpPr>
        <p:spPr>
          <a:xfrm>
            <a:off x="4763880" y="2002680"/>
            <a:ext cx="178200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28-day 1.8% · 11 in-hospital deaths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Shape 28"/>
          <p:cNvSpPr/>
          <p:nvPr/>
        </p:nvSpPr>
        <p:spPr>
          <a:xfrm>
            <a:off x="6711840" y="1298520"/>
            <a:ext cx="1937520" cy="9864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29"/>
          <p:cNvSpPr/>
          <p:nvPr/>
        </p:nvSpPr>
        <p:spPr>
          <a:xfrm>
            <a:off x="6849000" y="1426320"/>
            <a:ext cx="127080" cy="127080"/>
          </a:xfrm>
          <a:prstGeom prst="ellipse">
            <a:avLst/>
          </a:prstGeom>
          <a:solidFill>
            <a:srgbClr val="4cc3b0"/>
          </a:solidFill>
          <a:ln w="12600">
            <a:solidFill>
              <a:srgbClr val="4cc3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3720" rIns="6372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30"/>
          <p:cNvSpPr/>
          <p:nvPr/>
        </p:nvSpPr>
        <p:spPr>
          <a:xfrm>
            <a:off x="7040880" y="1371600"/>
            <a:ext cx="155340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Median length of stay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31"/>
          <p:cNvSpPr/>
          <p:nvPr/>
        </p:nvSpPr>
        <p:spPr>
          <a:xfrm>
            <a:off x="6849000" y="1600200"/>
            <a:ext cx="1736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8 days</a:t>
            </a:r>
            <a:endParaRPr b="0" lang="en-IN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32"/>
          <p:cNvSpPr/>
          <p:nvPr/>
        </p:nvSpPr>
        <p:spPr>
          <a:xfrm>
            <a:off x="6849000" y="2002680"/>
            <a:ext cx="178200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IQR 6–10 days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33"/>
          <p:cNvSpPr/>
          <p:nvPr/>
        </p:nvSpPr>
        <p:spPr>
          <a:xfrm>
            <a:off x="457200" y="2395800"/>
            <a:ext cx="1937520" cy="9864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34"/>
          <p:cNvSpPr/>
          <p:nvPr/>
        </p:nvSpPr>
        <p:spPr>
          <a:xfrm>
            <a:off x="594360" y="2523600"/>
            <a:ext cx="127080" cy="127080"/>
          </a:xfrm>
          <a:prstGeom prst="ellipse">
            <a:avLst/>
          </a:prstGeom>
          <a:solidFill>
            <a:srgbClr val="7b6cb3"/>
          </a:solidFill>
          <a:ln w="12600">
            <a:solidFill>
              <a:srgbClr val="7b6cb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3720" rIns="6372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35"/>
          <p:cNvSpPr/>
          <p:nvPr/>
        </p:nvSpPr>
        <p:spPr>
          <a:xfrm>
            <a:off x="786240" y="2468880"/>
            <a:ext cx="155340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Severe heart failure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36"/>
          <p:cNvSpPr/>
          <p:nvPr/>
        </p:nvSpPr>
        <p:spPr>
          <a:xfrm>
            <a:off x="594360" y="2697480"/>
            <a:ext cx="1736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19.2%</a:t>
            </a:r>
            <a:endParaRPr b="0" lang="en-IN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37"/>
          <p:cNvSpPr/>
          <p:nvPr/>
        </p:nvSpPr>
        <p:spPr>
          <a:xfrm>
            <a:off x="594360" y="3099960"/>
            <a:ext cx="178200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NYHA 4: 31% · Killip 3–4: 22%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38"/>
          <p:cNvSpPr/>
          <p:nvPr/>
        </p:nvSpPr>
        <p:spPr>
          <a:xfrm>
            <a:off x="2541960" y="2395800"/>
            <a:ext cx="1937520" cy="9864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39"/>
          <p:cNvSpPr/>
          <p:nvPr/>
        </p:nvSpPr>
        <p:spPr>
          <a:xfrm>
            <a:off x="2679120" y="2523600"/>
            <a:ext cx="127080" cy="127080"/>
          </a:xfrm>
          <a:prstGeom prst="ellipse">
            <a:avLst/>
          </a:prstGeom>
          <a:solidFill>
            <a:srgbClr val="8fa3ad"/>
          </a:solidFill>
          <a:ln w="12600">
            <a:solidFill>
              <a:srgbClr val="8fa3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3720" rIns="6372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40"/>
          <p:cNvSpPr/>
          <p:nvPr/>
        </p:nvSpPr>
        <p:spPr>
          <a:xfrm>
            <a:off x="2871360" y="2468880"/>
            <a:ext cx="155340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Emergency admissions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41"/>
          <p:cNvSpPr/>
          <p:nvPr/>
        </p:nvSpPr>
        <p:spPr>
          <a:xfrm>
            <a:off x="2679120" y="2697480"/>
            <a:ext cx="1736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47.6%</a:t>
            </a:r>
            <a:endParaRPr b="0" lang="en-IN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42"/>
          <p:cNvSpPr/>
          <p:nvPr/>
        </p:nvSpPr>
        <p:spPr>
          <a:xfrm>
            <a:off x="2679120" y="3099960"/>
            <a:ext cx="178200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15 ICU admissions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43"/>
          <p:cNvSpPr/>
          <p:nvPr/>
        </p:nvSpPr>
        <p:spPr>
          <a:xfrm>
            <a:off x="4626720" y="2395800"/>
            <a:ext cx="1937520" cy="9864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44"/>
          <p:cNvSpPr/>
          <p:nvPr/>
        </p:nvSpPr>
        <p:spPr>
          <a:xfrm>
            <a:off x="4763880" y="2523600"/>
            <a:ext cx="127080" cy="127080"/>
          </a:xfrm>
          <a:prstGeom prst="ellipse">
            <a:avLst/>
          </a:prstGeom>
          <a:solidFill>
            <a:srgbClr val="f2a65a"/>
          </a:solidFill>
          <a:ln w="12600">
            <a:solidFill>
              <a:srgbClr val="f2a6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3720" rIns="6372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45"/>
          <p:cNvSpPr/>
          <p:nvPr/>
        </p:nvSpPr>
        <p:spPr>
          <a:xfrm>
            <a:off x="4956120" y="2468880"/>
            <a:ext cx="155340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Left against advice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46"/>
          <p:cNvSpPr/>
          <p:nvPr/>
        </p:nvSpPr>
        <p:spPr>
          <a:xfrm>
            <a:off x="4763880" y="2697480"/>
            <a:ext cx="1736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5.3%</a:t>
            </a:r>
            <a:endParaRPr b="0" lang="en-IN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47"/>
          <p:cNvSpPr/>
          <p:nvPr/>
        </p:nvSpPr>
        <p:spPr>
          <a:xfrm>
            <a:off x="4763880" y="3099960"/>
            <a:ext cx="178200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107 patients · 28-day death 19%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48"/>
          <p:cNvSpPr/>
          <p:nvPr/>
        </p:nvSpPr>
        <p:spPr>
          <a:xfrm>
            <a:off x="6711840" y="2395800"/>
            <a:ext cx="1937520" cy="9864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49"/>
          <p:cNvSpPr/>
          <p:nvPr/>
        </p:nvSpPr>
        <p:spPr>
          <a:xfrm>
            <a:off x="6849000" y="2523600"/>
            <a:ext cx="127080" cy="127080"/>
          </a:xfrm>
          <a:prstGeom prst="ellipse">
            <a:avLst/>
          </a:prstGeom>
          <a:solidFill>
            <a:srgbClr val="e6c35c"/>
          </a:solidFill>
          <a:ln w="12600">
            <a:solidFill>
              <a:srgbClr val="e6c3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3720" rIns="6372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50"/>
          <p:cNvSpPr/>
          <p:nvPr/>
        </p:nvSpPr>
        <p:spPr>
          <a:xfrm>
            <a:off x="7040880" y="2468880"/>
            <a:ext cx="155340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Echo gap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51"/>
          <p:cNvSpPr/>
          <p:nvPr/>
        </p:nvSpPr>
        <p:spPr>
          <a:xfrm>
            <a:off x="6849000" y="2697480"/>
            <a:ext cx="1736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31.7%</a:t>
            </a:r>
            <a:endParaRPr b="0" lang="en-IN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52"/>
          <p:cNvSpPr/>
          <p:nvPr/>
        </p:nvSpPr>
        <p:spPr>
          <a:xfrm>
            <a:off x="6849000" y="3099960"/>
            <a:ext cx="178200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no echo recorded · mean CCI 1.9</a:t>
            </a:r>
            <a:endParaRPr b="0" lang="en-IN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53"/>
          <p:cNvSpPr/>
          <p:nvPr/>
        </p:nvSpPr>
        <p:spPr>
          <a:xfrm>
            <a:off x="457200" y="3547800"/>
            <a:ext cx="8228520" cy="501840"/>
          </a:xfrm>
          <a:prstGeom prst="roundRect">
            <a:avLst>
              <a:gd name="adj" fmla="val 14545"/>
            </a:avLst>
          </a:prstGeom>
          <a:solidFill>
            <a:srgbClr val="fdf0ec"/>
          </a:solidFill>
          <a:ln w="9360">
            <a:solidFill>
              <a:srgbClr val="f5d5cb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54"/>
          <p:cNvSpPr/>
          <p:nvPr/>
        </p:nvSpPr>
        <p:spPr>
          <a:xfrm>
            <a:off x="594360" y="354780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c0543a"/>
                </a:solidFill>
                <a:latin typeface="Times New Roman"/>
                <a:ea typeface="Times New Roman"/>
              </a:rPr>
              <a:t>KEY INSIGHT  </a:t>
            </a:r>
            <a:r>
              <a:rPr b="0" lang="en-US" sz="12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Readmission (38.5%) is about 14× more common than death (2.8%), and 1 in 3 patients has no echo on record.</a:t>
            </a:r>
            <a:endParaRPr b="0" lang="en-IN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55"/>
          <p:cNvSpPr/>
          <p:nvPr/>
        </p:nvSpPr>
        <p:spPr>
          <a:xfrm>
            <a:off x="457200" y="4160520"/>
            <a:ext cx="8228520" cy="565920"/>
          </a:xfrm>
          <a:prstGeom prst="roundRect">
            <a:avLst>
              <a:gd name="adj" fmla="val 12903"/>
            </a:avLst>
          </a:prstGeom>
          <a:solidFill>
            <a:srgbClr val="e6f2f4"/>
          </a:solidFill>
          <a:ln w="9360">
            <a:solidFill>
              <a:srgbClr val="cde3e7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56"/>
          <p:cNvSpPr/>
          <p:nvPr/>
        </p:nvSpPr>
        <p:spPr>
          <a:xfrm>
            <a:off x="567000" y="4224600"/>
            <a:ext cx="437760" cy="437760"/>
          </a:xfrm>
          <a:prstGeom prst="ellipse">
            <a:avLst/>
          </a:prstGeom>
          <a:solidFill>
            <a:srgbClr val="1f7a6f"/>
          </a:solidFill>
          <a:ln w="12600">
            <a:solidFill>
              <a:srgbClr val="1f7a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6" name="Image 0" descr="preencoded.png"/>
          <p:cNvPicPr/>
          <p:nvPr/>
        </p:nvPicPr>
        <p:blipFill>
          <a:blip r:embed="rId2"/>
          <a:stretch/>
        </p:blipFill>
        <p:spPr>
          <a:xfrm>
            <a:off x="681120" y="4338720"/>
            <a:ext cx="209520" cy="209520"/>
          </a:xfrm>
          <a:prstGeom prst="rect">
            <a:avLst/>
          </a:prstGeom>
          <a:ln w="0">
            <a:noFill/>
          </a:ln>
        </p:spPr>
      </p:pic>
      <p:sp>
        <p:nvSpPr>
          <p:cNvPr id="77" name="Text 57"/>
          <p:cNvSpPr/>
          <p:nvPr/>
        </p:nvSpPr>
        <p:spPr>
          <a:xfrm>
            <a:off x="1143000" y="4178880"/>
            <a:ext cx="74055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Live dashboard: </a:t>
            </a:r>
            <a:r>
              <a:rPr b="1" lang="en-US" sz="1150" spc="-1" strike="noStrike" u="sng">
                <a:solidFill>
                  <a:srgbClr val="0563c1"/>
                </a:solidFill>
                <a:uFillTx/>
                <a:latin typeface="Times New Roman"/>
                <a:ea typeface="Times New Roman"/>
                <a:hlinkClick r:id="rId3"/>
              </a:rPr>
              <a:t>Hospitalized HF Patients Analytics · Team05 PyCraft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Code &amp; data: </a:t>
            </a:r>
            <a:r>
              <a:rPr b="0" lang="en-US" sz="1150" spc="-1" strike="noStrike" u="sng">
                <a:solidFill>
                  <a:srgbClr val="0563c1"/>
                </a:solidFill>
                <a:uFillTx/>
                <a:latin typeface="Times New Roman"/>
                <a:ea typeface="Times New Roman"/>
                <a:hlinkClick r:id="rId4"/>
              </a:rPr>
              <a:t>github.com/snehaboddukuri/Team5_PyCraft_Python-Hackathon_SEP2026</a:t>
            </a:r>
            <a:endParaRPr b="0" lang="en-IN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Freeform 1"/>
          <p:cNvSpPr/>
          <p:nvPr/>
        </p:nvSpPr>
        <p:spPr>
          <a:xfrm>
            <a:off x="8629560" y="30600"/>
            <a:ext cx="484920" cy="799560"/>
          </a:xfrm>
          <a:custGeom>
            <a:avLst/>
            <a:gdLst>
              <a:gd name="textAreaLeft" fmla="*/ 0 w 484920"/>
              <a:gd name="textAreaRight" fmla="*/ 485640 w 484920"/>
              <a:gd name="textAreaTop" fmla="*/ 0 h 799560"/>
              <a:gd name="textAreaBottom" fmla="*/ 800280 h 799560"/>
            </a:gdLst>
            <a:ahLst/>
            <a:rect l="textAreaLeft" t="textAreaTop" r="textAreaRight" b="textAreaBottom"/>
            <a:pathLst>
              <a:path w="647700" h="1066800">
                <a:moveTo>
                  <a:pt x="0" y="0"/>
                </a:moveTo>
                <a:lnTo>
                  <a:pt x="647700" y="0"/>
                </a:lnTo>
                <a:lnTo>
                  <a:pt x="647700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457200" y="228600"/>
            <a:ext cx="1233360" cy="245880"/>
          </a:xfrm>
          <a:prstGeom prst="roundRect">
            <a:avLst>
              <a:gd name="adj" fmla="val 48148"/>
            </a:avLst>
          </a:prstGeom>
          <a:solidFill>
            <a:srgbClr val="3d7ea6"/>
          </a:solidFill>
          <a:ln w="126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457200" y="228600"/>
            <a:ext cx="123336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7" strike="noStrike">
                <a:solidFill>
                  <a:srgbClr val="ffffff"/>
                </a:solidFill>
                <a:latin typeface="Times New Roman"/>
                <a:ea typeface="Times New Roman"/>
              </a:rPr>
              <a:t>DESCRIPTIVE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2"/>
          <p:cNvSpPr/>
          <p:nvPr/>
        </p:nvSpPr>
        <p:spPr>
          <a:xfrm>
            <a:off x="1783080" y="228600"/>
            <a:ext cx="274212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2e6385"/>
                </a:solidFill>
                <a:latin typeface="Times New Roman"/>
                <a:ea typeface="Times New Roman"/>
              </a:rPr>
              <a:t>What happened?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3"/>
          <p:cNvSpPr/>
          <p:nvPr/>
        </p:nvSpPr>
        <p:spPr>
          <a:xfrm>
            <a:off x="457200" y="52128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Who Are the Patients?</a:t>
            </a:r>
            <a:endParaRPr b="0" lang="en-IN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457200" y="969120"/>
            <a:ext cx="822852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5"/>
          <p:cNvSpPr/>
          <p:nvPr/>
        </p:nvSpPr>
        <p:spPr>
          <a:xfrm>
            <a:off x="51206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51206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KPIs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7"/>
          <p:cNvSpPr/>
          <p:nvPr/>
        </p:nvSpPr>
        <p:spPr>
          <a:xfrm>
            <a:off x="60260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3d7ea6"/>
          </a:solidFill>
          <a:ln w="936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8"/>
          <p:cNvSpPr/>
          <p:nvPr/>
        </p:nvSpPr>
        <p:spPr>
          <a:xfrm>
            <a:off x="60260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Descriptive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9"/>
          <p:cNvSpPr/>
          <p:nvPr/>
        </p:nvSpPr>
        <p:spPr>
          <a:xfrm>
            <a:off x="69310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10"/>
          <p:cNvSpPr/>
          <p:nvPr/>
        </p:nvSpPr>
        <p:spPr>
          <a:xfrm>
            <a:off x="69310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Prescriptive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11"/>
          <p:cNvSpPr/>
          <p:nvPr/>
        </p:nvSpPr>
        <p:spPr>
          <a:xfrm>
            <a:off x="78364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12"/>
          <p:cNvSpPr/>
          <p:nvPr/>
        </p:nvSpPr>
        <p:spPr>
          <a:xfrm>
            <a:off x="78364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Predictive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2" name="Chart 0"/>
          <p:cNvGraphicFramePr/>
          <p:nvPr/>
        </p:nvGraphicFramePr>
        <p:xfrm>
          <a:off x="365760" y="1261800"/>
          <a:ext cx="4205160" cy="233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3" name="Chart 1"/>
          <p:cNvGraphicFramePr/>
          <p:nvPr/>
        </p:nvGraphicFramePr>
        <p:xfrm>
          <a:off x="4663440" y="1261800"/>
          <a:ext cx="4113720" cy="233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4" name="Shape 13"/>
          <p:cNvSpPr/>
          <p:nvPr/>
        </p:nvSpPr>
        <p:spPr>
          <a:xfrm>
            <a:off x="457200" y="3675960"/>
            <a:ext cx="4022280" cy="10231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14"/>
          <p:cNvSpPr/>
          <p:nvPr/>
        </p:nvSpPr>
        <p:spPr>
          <a:xfrm>
            <a:off x="594360" y="3749040"/>
            <a:ext cx="3747960" cy="8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2e6385"/>
                </a:solidFill>
                <a:latin typeface="Times New Roman"/>
                <a:ea typeface="Times New Roman"/>
              </a:rPr>
              <a:t>FINDING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73% are aged 69+; the 69–89 bands hold 68% of patients, and women outnumber men there.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2e6385"/>
                </a:solidFill>
                <a:latin typeface="Times New Roman"/>
                <a:ea typeface="Times New Roman"/>
              </a:rPr>
              <a:t>SO WHAT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Care must be built for older, often frail patients: family support, multiple medicines, mobility.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15"/>
          <p:cNvSpPr/>
          <p:nvPr/>
        </p:nvSpPr>
        <p:spPr>
          <a:xfrm>
            <a:off x="4663440" y="3675960"/>
            <a:ext cx="4022280" cy="10231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16"/>
          <p:cNvSpPr/>
          <p:nvPr/>
        </p:nvSpPr>
        <p:spPr>
          <a:xfrm>
            <a:off x="4800600" y="3749040"/>
            <a:ext cx="3747960" cy="8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2e6385"/>
                </a:solidFill>
                <a:latin typeface="Times New Roman"/>
                <a:ea typeface="Times New Roman"/>
              </a:rPr>
              <a:t>FINDING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1 in 4 patients (25.2%) is underweight, rising to 36.6% in those aged 89+.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2e6385"/>
                </a:solidFill>
                <a:latin typeface="Times New Roman"/>
                <a:ea typeface="Times New Roman"/>
              </a:rPr>
              <a:t>SO WHAT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Malnutrition is common and easy to miss; nutrition screening belongs in every elderly admission.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hape 0"/>
          <p:cNvSpPr/>
          <p:nvPr/>
        </p:nvSpPr>
        <p:spPr>
          <a:xfrm>
            <a:off x="457200" y="228600"/>
            <a:ext cx="1233360" cy="245880"/>
          </a:xfrm>
          <a:prstGeom prst="roundRect">
            <a:avLst>
              <a:gd name="adj" fmla="val 48148"/>
            </a:avLst>
          </a:prstGeom>
          <a:solidFill>
            <a:srgbClr val="3d7ea6"/>
          </a:solidFill>
          <a:ln w="126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1"/>
          <p:cNvSpPr/>
          <p:nvPr/>
        </p:nvSpPr>
        <p:spPr>
          <a:xfrm>
            <a:off x="457200" y="228600"/>
            <a:ext cx="123336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7" strike="noStrike">
                <a:solidFill>
                  <a:srgbClr val="ffffff"/>
                </a:solidFill>
                <a:latin typeface="Times New Roman"/>
                <a:ea typeface="Times New Roman"/>
              </a:rPr>
              <a:t>DESCRIPTIVE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2"/>
          <p:cNvSpPr/>
          <p:nvPr/>
        </p:nvSpPr>
        <p:spPr>
          <a:xfrm>
            <a:off x="1783080" y="228600"/>
            <a:ext cx="274212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2e6385"/>
                </a:solidFill>
                <a:latin typeface="Times New Roman"/>
                <a:ea typeface="Times New Roman"/>
              </a:rPr>
              <a:t>What happened?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3"/>
          <p:cNvSpPr/>
          <p:nvPr/>
        </p:nvSpPr>
        <p:spPr>
          <a:xfrm>
            <a:off x="457200" y="52128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When Do Readmission and Death Happen?</a:t>
            </a:r>
            <a:endParaRPr b="0" lang="en-IN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4"/>
          <p:cNvSpPr/>
          <p:nvPr/>
        </p:nvSpPr>
        <p:spPr>
          <a:xfrm>
            <a:off x="457200" y="969120"/>
            <a:ext cx="822852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5"/>
          <p:cNvSpPr/>
          <p:nvPr/>
        </p:nvSpPr>
        <p:spPr>
          <a:xfrm>
            <a:off x="51206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6"/>
          <p:cNvSpPr/>
          <p:nvPr/>
        </p:nvSpPr>
        <p:spPr>
          <a:xfrm>
            <a:off x="51206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KPIs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7"/>
          <p:cNvSpPr/>
          <p:nvPr/>
        </p:nvSpPr>
        <p:spPr>
          <a:xfrm>
            <a:off x="60260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3d7ea6"/>
          </a:solidFill>
          <a:ln w="936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8"/>
          <p:cNvSpPr/>
          <p:nvPr/>
        </p:nvSpPr>
        <p:spPr>
          <a:xfrm>
            <a:off x="60260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Descriptive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9"/>
          <p:cNvSpPr/>
          <p:nvPr/>
        </p:nvSpPr>
        <p:spPr>
          <a:xfrm>
            <a:off x="69310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10"/>
          <p:cNvSpPr/>
          <p:nvPr/>
        </p:nvSpPr>
        <p:spPr>
          <a:xfrm>
            <a:off x="69310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Prescriptive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11"/>
          <p:cNvSpPr/>
          <p:nvPr/>
        </p:nvSpPr>
        <p:spPr>
          <a:xfrm>
            <a:off x="78364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12"/>
          <p:cNvSpPr/>
          <p:nvPr/>
        </p:nvSpPr>
        <p:spPr>
          <a:xfrm>
            <a:off x="78364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Predictive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1" name="Chart 0"/>
          <p:cNvGraphicFramePr/>
          <p:nvPr/>
        </p:nvGraphicFramePr>
        <p:xfrm>
          <a:off x="365760" y="1261800"/>
          <a:ext cx="4205160" cy="233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2" name="Chart 1"/>
          <p:cNvGraphicFramePr/>
          <p:nvPr/>
        </p:nvGraphicFramePr>
        <p:xfrm>
          <a:off x="4663440" y="1261800"/>
          <a:ext cx="4113720" cy="233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3" name="Shape 13"/>
          <p:cNvSpPr/>
          <p:nvPr/>
        </p:nvSpPr>
        <p:spPr>
          <a:xfrm>
            <a:off x="457200" y="3675960"/>
            <a:ext cx="4022280" cy="10231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14"/>
          <p:cNvSpPr/>
          <p:nvPr/>
        </p:nvSpPr>
        <p:spPr>
          <a:xfrm>
            <a:off x="594360" y="3749040"/>
            <a:ext cx="3747960" cy="8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2e6385"/>
                </a:solidFill>
                <a:latin typeface="Times New Roman"/>
                <a:ea typeface="Times New Roman"/>
              </a:rPr>
              <a:t>FINDING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Readmission keeps climbing (7% → 25% → 38.5%), while mortality is almost flat after the first month.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2e6385"/>
                </a:solidFill>
                <a:latin typeface="Times New Roman"/>
                <a:ea typeface="Times New Roman"/>
              </a:rPr>
              <a:t>SO WHAT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Death prevention must be front-loaded; readmission prevention must last the full 6 months.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15"/>
          <p:cNvSpPr/>
          <p:nvPr/>
        </p:nvSpPr>
        <p:spPr>
          <a:xfrm>
            <a:off x="4663440" y="3675960"/>
            <a:ext cx="4022280" cy="10231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16"/>
          <p:cNvSpPr/>
          <p:nvPr/>
        </p:nvSpPr>
        <p:spPr>
          <a:xfrm>
            <a:off x="4800600" y="3749040"/>
            <a:ext cx="3747960" cy="8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2e6385"/>
                </a:solidFill>
                <a:latin typeface="Times New Roman"/>
                <a:ea typeface="Times New Roman"/>
              </a:rPr>
              <a:t>FINDING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Only ~2% arrive with reduced consciousness, but they make up over a third of early deaths; 91% of unresponsive patients die, most in week 1.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2e6385"/>
                </a:solidFill>
                <a:latin typeface="Times New Roman"/>
                <a:ea typeface="Times New Roman"/>
              </a:rPr>
              <a:t>SO WHAT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Consciousness at the door is one of the strongest early warning signs.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Freeform 2"/>
          <p:cNvSpPr/>
          <p:nvPr/>
        </p:nvSpPr>
        <p:spPr>
          <a:xfrm>
            <a:off x="8629560" y="30600"/>
            <a:ext cx="484920" cy="799560"/>
          </a:xfrm>
          <a:custGeom>
            <a:avLst/>
            <a:gdLst>
              <a:gd name="textAreaLeft" fmla="*/ 0 w 484920"/>
              <a:gd name="textAreaRight" fmla="*/ 485640 w 484920"/>
              <a:gd name="textAreaTop" fmla="*/ 0 h 799560"/>
              <a:gd name="textAreaBottom" fmla="*/ 800280 h 799560"/>
            </a:gdLst>
            <a:ahLst/>
            <a:rect l="textAreaLeft" t="textAreaTop" r="textAreaRight" b="textAreaBottom"/>
            <a:pathLst>
              <a:path w="647700" h="1066800">
                <a:moveTo>
                  <a:pt x="0" y="0"/>
                </a:moveTo>
                <a:lnTo>
                  <a:pt x="647700" y="0"/>
                </a:lnTo>
                <a:lnTo>
                  <a:pt x="647700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457200" y="228600"/>
            <a:ext cx="1233360" cy="245880"/>
          </a:xfrm>
          <a:prstGeom prst="roundRect">
            <a:avLst>
              <a:gd name="adj" fmla="val 48148"/>
            </a:avLst>
          </a:prstGeom>
          <a:solidFill>
            <a:srgbClr val="2a9d8f"/>
          </a:solidFill>
          <a:ln w="1260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457200" y="228600"/>
            <a:ext cx="123336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7" strike="noStrike">
                <a:solidFill>
                  <a:srgbClr val="ffffff"/>
                </a:solidFill>
                <a:latin typeface="Times New Roman"/>
                <a:ea typeface="Times New Roman"/>
              </a:rPr>
              <a:t>PRESCRIPTIVE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2"/>
          <p:cNvSpPr/>
          <p:nvPr/>
        </p:nvSpPr>
        <p:spPr>
          <a:xfrm>
            <a:off x="1783080" y="228600"/>
            <a:ext cx="274212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1f7a6f"/>
                </a:solidFill>
                <a:latin typeface="Times New Roman"/>
                <a:ea typeface="Times New Roman"/>
              </a:rPr>
              <a:t>What should we do?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3"/>
          <p:cNvSpPr/>
          <p:nvPr/>
        </p:nvSpPr>
        <p:spPr>
          <a:xfrm>
            <a:off x="457200" y="52128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Kidney Function: Two Risks at Two Stages</a:t>
            </a:r>
            <a:endParaRPr b="0" lang="en-IN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4"/>
          <p:cNvSpPr/>
          <p:nvPr/>
        </p:nvSpPr>
        <p:spPr>
          <a:xfrm>
            <a:off x="457200" y="969120"/>
            <a:ext cx="822852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5"/>
          <p:cNvSpPr/>
          <p:nvPr/>
        </p:nvSpPr>
        <p:spPr>
          <a:xfrm>
            <a:off x="51206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6"/>
          <p:cNvSpPr/>
          <p:nvPr/>
        </p:nvSpPr>
        <p:spPr>
          <a:xfrm>
            <a:off x="51206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KPIs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7"/>
          <p:cNvSpPr/>
          <p:nvPr/>
        </p:nvSpPr>
        <p:spPr>
          <a:xfrm>
            <a:off x="60260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8"/>
          <p:cNvSpPr/>
          <p:nvPr/>
        </p:nvSpPr>
        <p:spPr>
          <a:xfrm>
            <a:off x="60260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Descriptive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9"/>
          <p:cNvSpPr/>
          <p:nvPr/>
        </p:nvSpPr>
        <p:spPr>
          <a:xfrm>
            <a:off x="69310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 w="936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10"/>
          <p:cNvSpPr/>
          <p:nvPr/>
        </p:nvSpPr>
        <p:spPr>
          <a:xfrm>
            <a:off x="69310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Prescriptive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11"/>
          <p:cNvSpPr/>
          <p:nvPr/>
        </p:nvSpPr>
        <p:spPr>
          <a:xfrm>
            <a:off x="78364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12"/>
          <p:cNvSpPr/>
          <p:nvPr/>
        </p:nvSpPr>
        <p:spPr>
          <a:xfrm>
            <a:off x="78364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Predictive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31" name="Chart 0"/>
          <p:cNvGraphicFramePr/>
          <p:nvPr/>
        </p:nvGraphicFramePr>
        <p:xfrm>
          <a:off x="365760" y="1261800"/>
          <a:ext cx="4205160" cy="233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2" name="Chart 1"/>
          <p:cNvGraphicFramePr/>
          <p:nvPr/>
        </p:nvGraphicFramePr>
        <p:xfrm>
          <a:off x="4663440" y="1261800"/>
          <a:ext cx="4113720" cy="233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3" name="Shape 13"/>
          <p:cNvSpPr/>
          <p:nvPr/>
        </p:nvSpPr>
        <p:spPr>
          <a:xfrm>
            <a:off x="457200" y="3675960"/>
            <a:ext cx="4022280" cy="10231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14"/>
          <p:cNvSpPr/>
          <p:nvPr/>
        </p:nvSpPr>
        <p:spPr>
          <a:xfrm>
            <a:off x="594360" y="3749040"/>
            <a:ext cx="3747960" cy="8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FINDING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Readmission rises to a peak of 50% at moderate kidney disease (G3b) and then falls.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ACTION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eGFR 30–59 → readmission pathway: clinic in 7–14 days, repeat kidney tests, diuretic review.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5"/>
          <p:cNvSpPr/>
          <p:nvPr/>
        </p:nvSpPr>
        <p:spPr>
          <a:xfrm>
            <a:off x="4663440" y="3675960"/>
            <a:ext cx="4022280" cy="10231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16"/>
          <p:cNvSpPr/>
          <p:nvPr/>
        </p:nvSpPr>
        <p:spPr>
          <a:xfrm>
            <a:off x="4800600" y="3749040"/>
            <a:ext cx="3747960" cy="8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FINDING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Mortality stays around 2% until G3b, then jumps to 8–9% at G4–G5 (about 4×).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ACTION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eGFR &lt; 30 → nephrology co-management, renal dosing and an early goals-of-care talk.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Freeform 3"/>
          <p:cNvSpPr/>
          <p:nvPr/>
        </p:nvSpPr>
        <p:spPr>
          <a:xfrm>
            <a:off x="8629560" y="30600"/>
            <a:ext cx="484920" cy="799560"/>
          </a:xfrm>
          <a:custGeom>
            <a:avLst/>
            <a:gdLst>
              <a:gd name="textAreaLeft" fmla="*/ 0 w 484920"/>
              <a:gd name="textAreaRight" fmla="*/ 485640 w 484920"/>
              <a:gd name="textAreaTop" fmla="*/ 0 h 799560"/>
              <a:gd name="textAreaBottom" fmla="*/ 800280 h 799560"/>
            </a:gdLst>
            <a:ahLst/>
            <a:rect l="textAreaLeft" t="textAreaTop" r="textAreaRight" b="textAreaBottom"/>
            <a:pathLst>
              <a:path w="647700" h="1066800">
                <a:moveTo>
                  <a:pt x="0" y="0"/>
                </a:moveTo>
                <a:lnTo>
                  <a:pt x="647700" y="0"/>
                </a:lnTo>
                <a:lnTo>
                  <a:pt x="647700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0"/>
          <p:cNvSpPr/>
          <p:nvPr/>
        </p:nvSpPr>
        <p:spPr>
          <a:xfrm>
            <a:off x="457200" y="228600"/>
            <a:ext cx="1233360" cy="245880"/>
          </a:xfrm>
          <a:prstGeom prst="roundRect">
            <a:avLst>
              <a:gd name="adj" fmla="val 48148"/>
            </a:avLst>
          </a:prstGeom>
          <a:solidFill>
            <a:srgbClr val="2a9d8f"/>
          </a:solidFill>
          <a:ln w="1260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457200" y="228600"/>
            <a:ext cx="123336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7" strike="noStrike">
                <a:solidFill>
                  <a:srgbClr val="ffffff"/>
                </a:solidFill>
                <a:latin typeface="Times New Roman"/>
                <a:ea typeface="Times New Roman"/>
              </a:rPr>
              <a:t>PRESCRIPTIVE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2"/>
          <p:cNvSpPr/>
          <p:nvPr/>
        </p:nvSpPr>
        <p:spPr>
          <a:xfrm>
            <a:off x="1783080" y="228600"/>
            <a:ext cx="274212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1f7a6f"/>
                </a:solidFill>
                <a:latin typeface="Times New Roman"/>
                <a:ea typeface="Times New Roman"/>
              </a:rPr>
              <a:t>What should we do?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3"/>
          <p:cNvSpPr/>
          <p:nvPr/>
        </p:nvSpPr>
        <p:spPr>
          <a:xfrm>
            <a:off x="457200" y="52128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Who Needs the Closest Follow-Up?</a:t>
            </a:r>
            <a:endParaRPr b="0" lang="en-IN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4"/>
          <p:cNvSpPr/>
          <p:nvPr/>
        </p:nvSpPr>
        <p:spPr>
          <a:xfrm>
            <a:off x="457200" y="969120"/>
            <a:ext cx="822852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5"/>
          <p:cNvSpPr/>
          <p:nvPr/>
        </p:nvSpPr>
        <p:spPr>
          <a:xfrm>
            <a:off x="51206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6"/>
          <p:cNvSpPr/>
          <p:nvPr/>
        </p:nvSpPr>
        <p:spPr>
          <a:xfrm>
            <a:off x="51206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KPIs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7"/>
          <p:cNvSpPr/>
          <p:nvPr/>
        </p:nvSpPr>
        <p:spPr>
          <a:xfrm>
            <a:off x="60260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8"/>
          <p:cNvSpPr/>
          <p:nvPr/>
        </p:nvSpPr>
        <p:spPr>
          <a:xfrm>
            <a:off x="60260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Descriptive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9"/>
          <p:cNvSpPr/>
          <p:nvPr/>
        </p:nvSpPr>
        <p:spPr>
          <a:xfrm>
            <a:off x="69310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 w="936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 10"/>
          <p:cNvSpPr/>
          <p:nvPr/>
        </p:nvSpPr>
        <p:spPr>
          <a:xfrm>
            <a:off x="69310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Prescriptive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11"/>
          <p:cNvSpPr/>
          <p:nvPr/>
        </p:nvSpPr>
        <p:spPr>
          <a:xfrm>
            <a:off x="78364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2"/>
          <p:cNvSpPr/>
          <p:nvPr/>
        </p:nvSpPr>
        <p:spPr>
          <a:xfrm>
            <a:off x="78364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Predictive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13"/>
          <p:cNvSpPr/>
          <p:nvPr/>
        </p:nvSpPr>
        <p:spPr>
          <a:xfrm>
            <a:off x="457200" y="1280160"/>
            <a:ext cx="4479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28-day readmission by severity (%)</a:t>
            </a:r>
            <a:endParaRPr b="0" lang="en-IN" sz="13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52" name="Table 0"/>
          <p:cNvGraphicFramePr/>
          <p:nvPr/>
        </p:nvGraphicFramePr>
        <p:xfrm>
          <a:off x="640080" y="1600200"/>
          <a:ext cx="4114440" cy="1991880"/>
        </p:xfrm>
        <a:graphic>
          <a:graphicData uri="http://schemas.openxmlformats.org/drawingml/2006/table">
            <a:tbl>
              <a:tblPr/>
              <a:tblGrid>
                <a:gridCol w="1005840"/>
                <a:gridCol w="1554480"/>
                <a:gridCol w="1554480"/>
              </a:tblGrid>
              <a:tr h="292320">
                <a:tc>
                  <a:txBody>
                    <a:bodyPr anchor="ctr">
                      <a:noAutofit/>
                    </a:bodyPr>
                    <a:p>
                      <a:endParaRPr b="0" lang="en-US" sz="1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ctr" marL="91440" marR="91440">
                    <a:lnL w="25200">
                      <a:solidFill>
                        <a:srgbClr val="ffffff"/>
                      </a:solidFill>
                      <a:prstDash val="solid"/>
                    </a:lnL>
                    <a:lnR w="25200">
                      <a:solidFill>
                        <a:srgbClr val="ffffff"/>
                      </a:solidFill>
                      <a:prstDash val="solid"/>
                    </a:lnR>
                    <a:lnT w="25200">
                      <a:solidFill>
                        <a:srgbClr val="ffffff"/>
                      </a:solidFill>
                      <a:prstDash val="solid"/>
                    </a:lnT>
                    <a:lnB w="25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5a6b72"/>
                          </a:solidFill>
                          <a:latin typeface="Times New Roman"/>
                          <a:ea typeface="Times New Roman"/>
                        </a:rPr>
                        <a:t>Emergency</a:t>
                      </a:r>
                      <a:endParaRPr b="0" lang="en-IN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5200">
                      <a:solidFill>
                        <a:srgbClr val="ffffff"/>
                      </a:solidFill>
                      <a:prstDash val="solid"/>
                    </a:lnL>
                    <a:lnR w="25200">
                      <a:solidFill>
                        <a:srgbClr val="ffffff"/>
                      </a:solidFill>
                      <a:prstDash val="solid"/>
                    </a:lnR>
                    <a:lnT w="25200">
                      <a:solidFill>
                        <a:srgbClr val="ffffff"/>
                      </a:solidFill>
                      <a:prstDash val="solid"/>
                    </a:lnT>
                    <a:lnB w="25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5a6b72"/>
                          </a:solidFill>
                          <a:latin typeface="Times New Roman"/>
                          <a:ea typeface="Times New Roman"/>
                        </a:rPr>
                        <a:t>Non-emergency</a:t>
                      </a:r>
                      <a:endParaRPr b="0" lang="en-IN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5200">
                      <a:solidFill>
                        <a:srgbClr val="ffffff"/>
                      </a:solidFill>
                      <a:prstDash val="solid"/>
                    </a:lnL>
                    <a:lnR w="25200">
                      <a:solidFill>
                        <a:srgbClr val="ffffff"/>
                      </a:solidFill>
                      <a:prstDash val="solid"/>
                    </a:lnR>
                    <a:lnT w="25200">
                      <a:solidFill>
                        <a:srgbClr val="ffffff"/>
                      </a:solidFill>
                      <a:prstDash val="solid"/>
                    </a:lnT>
                    <a:lnB w="25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5a6b72"/>
                          </a:solidFill>
                          <a:latin typeface="Times New Roman"/>
                          <a:ea typeface="Times New Roman"/>
                        </a:rPr>
                        <a:t>NYHA 2</a:t>
                      </a:r>
                      <a:endParaRPr b="0" lang="en-IN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5200">
                      <a:solidFill>
                        <a:srgbClr val="ffffff"/>
                      </a:solidFill>
                      <a:prstDash val="solid"/>
                    </a:lnL>
                    <a:lnR w="25200">
                      <a:solidFill>
                        <a:srgbClr val="ffffff"/>
                      </a:solidFill>
                      <a:prstDash val="solid"/>
                    </a:lnR>
                    <a:lnT w="25200">
                      <a:solidFill>
                        <a:srgbClr val="ffffff"/>
                      </a:solidFill>
                      <a:prstDash val="solid"/>
                    </a:lnT>
                    <a:lnB w="25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500" spc="-1" strike="noStrike">
                          <a:solidFill>
                            <a:srgbClr val="1b2a30"/>
                          </a:solidFill>
                          <a:latin typeface="Times New Roman"/>
                          <a:ea typeface="Times New Roman"/>
                        </a:rPr>
                        <a:t>3.7%</a:t>
                      </a:r>
                      <a:endParaRPr b="0" lang="en-IN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b2a30"/>
                          </a:solidFill>
                          <a:latin typeface="Times New Roman"/>
                          <a:ea typeface="Times New Roman"/>
                        </a:rPr>
                        <a:t>n = 162</a:t>
                      </a:r>
                      <a:endParaRPr b="0" lang="en-IN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5200">
                      <a:solidFill>
                        <a:srgbClr val="ffffff"/>
                      </a:solidFill>
                      <a:prstDash val="solid"/>
                    </a:lnL>
                    <a:lnR w="25200">
                      <a:solidFill>
                        <a:srgbClr val="ffffff"/>
                      </a:solidFill>
                      <a:prstDash val="solid"/>
                    </a:lnR>
                    <a:lnT w="25200">
                      <a:solidFill>
                        <a:srgbClr val="ffffff"/>
                      </a:solidFill>
                      <a:prstDash val="solid"/>
                    </a:lnT>
                    <a:lnB w="25200">
                      <a:solidFill>
                        <a:srgbClr val="ffffff"/>
                      </a:solidFill>
                      <a:prstDash val="solid"/>
                    </a:lnB>
                    <a:solidFill>
                      <a:srgbClr val="dae5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500" spc="-1" strike="noStrike">
                          <a:solidFill>
                            <a:srgbClr val="1b2a30"/>
                          </a:solidFill>
                          <a:latin typeface="Times New Roman"/>
                          <a:ea typeface="Times New Roman"/>
                        </a:rPr>
                        <a:t>4.2%</a:t>
                      </a:r>
                      <a:endParaRPr b="0" lang="en-IN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b2a30"/>
                          </a:solidFill>
                          <a:latin typeface="Times New Roman"/>
                          <a:ea typeface="Times New Roman"/>
                        </a:rPr>
                        <a:t>n = 191</a:t>
                      </a:r>
                      <a:endParaRPr b="0" lang="en-IN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5200">
                      <a:solidFill>
                        <a:srgbClr val="ffffff"/>
                      </a:solidFill>
                      <a:prstDash val="solid"/>
                    </a:lnL>
                    <a:lnR w="25200">
                      <a:solidFill>
                        <a:srgbClr val="ffffff"/>
                      </a:solidFill>
                      <a:prstDash val="solid"/>
                    </a:lnR>
                    <a:lnT w="25200">
                      <a:solidFill>
                        <a:srgbClr val="ffffff"/>
                      </a:solidFill>
                      <a:prstDash val="solid"/>
                    </a:lnT>
                    <a:lnB w="25200">
                      <a:solidFill>
                        <a:srgbClr val="ffffff"/>
                      </a:solidFill>
                      <a:prstDash val="solid"/>
                    </a:lnB>
                    <a:solidFill>
                      <a:srgbClr val="ceddeb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5a6b72"/>
                          </a:solidFill>
                          <a:latin typeface="Times New Roman"/>
                          <a:ea typeface="Times New Roman"/>
                        </a:rPr>
                        <a:t>NYHA 3</a:t>
                      </a:r>
                      <a:endParaRPr b="0" lang="en-IN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5200">
                      <a:solidFill>
                        <a:srgbClr val="ffffff"/>
                      </a:solidFill>
                      <a:prstDash val="solid"/>
                    </a:lnL>
                    <a:lnR w="25200">
                      <a:solidFill>
                        <a:srgbClr val="ffffff"/>
                      </a:solidFill>
                      <a:prstDash val="solid"/>
                    </a:lnR>
                    <a:lnT w="25200">
                      <a:solidFill>
                        <a:srgbClr val="ffffff"/>
                      </a:solidFill>
                      <a:prstDash val="solid"/>
                    </a:lnT>
                    <a:lnB w="25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500" spc="-1" strike="noStrike">
                          <a:solidFill>
                            <a:srgbClr val="1b2a30"/>
                          </a:solidFill>
                          <a:latin typeface="Times New Roman"/>
                          <a:ea typeface="Times New Roman"/>
                        </a:rPr>
                        <a:t>6.9%</a:t>
                      </a:r>
                      <a:endParaRPr b="0" lang="en-IN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b2a30"/>
                          </a:solidFill>
                          <a:latin typeface="Times New Roman"/>
                          <a:ea typeface="Times New Roman"/>
                        </a:rPr>
                        <a:t>n = 490</a:t>
                      </a:r>
                      <a:endParaRPr b="0" lang="en-IN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5200">
                      <a:solidFill>
                        <a:srgbClr val="ffffff"/>
                      </a:solidFill>
                      <a:prstDash val="solid"/>
                    </a:lnL>
                    <a:lnR w="25200">
                      <a:solidFill>
                        <a:srgbClr val="ffffff"/>
                      </a:solidFill>
                      <a:prstDash val="solid"/>
                    </a:lnR>
                    <a:lnT w="25200">
                      <a:solidFill>
                        <a:srgbClr val="ffffff"/>
                      </a:solidFill>
                      <a:prstDash val="solid"/>
                    </a:lnT>
                    <a:lnB w="25200">
                      <a:solidFill>
                        <a:srgbClr val="ffffff"/>
                      </a:solidFill>
                      <a:prstDash val="solid"/>
                    </a:lnB>
                    <a:solidFill>
                      <a:srgbClr val="8eacc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500" spc="-1" strike="noStrike">
                          <a:solidFill>
                            <a:srgbClr val="1b2a30"/>
                          </a:solidFill>
                          <a:latin typeface="Times New Roman"/>
                          <a:ea typeface="Times New Roman"/>
                        </a:rPr>
                        <a:t>6.0%</a:t>
                      </a:r>
                      <a:endParaRPr b="0" lang="en-IN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b2a30"/>
                          </a:solidFill>
                          <a:latin typeface="Times New Roman"/>
                          <a:ea typeface="Times New Roman"/>
                        </a:rPr>
                        <a:t>n = 549</a:t>
                      </a:r>
                      <a:endParaRPr b="0" lang="en-IN" sz="9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5200">
                      <a:solidFill>
                        <a:srgbClr val="ffffff"/>
                      </a:solidFill>
                      <a:prstDash val="solid"/>
                    </a:lnL>
                    <a:lnR w="25200">
                      <a:solidFill>
                        <a:srgbClr val="ffffff"/>
                      </a:solidFill>
                      <a:prstDash val="solid"/>
                    </a:lnR>
                    <a:lnT w="25200">
                      <a:solidFill>
                        <a:srgbClr val="ffffff"/>
                      </a:solidFill>
                      <a:prstDash val="solid"/>
                    </a:lnT>
                    <a:lnB w="25200">
                      <a:solidFill>
                        <a:srgbClr val="ffffff"/>
                      </a:solidFill>
                      <a:prstDash val="solid"/>
                    </a:lnB>
                    <a:solidFill>
                      <a:srgbClr val="a4bcd5"/>
                    </a:solidFill>
                  </a:tcPr>
                </a:tc>
              </a:tr>
              <a:tr h="5666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5a6b72"/>
                          </a:solidFill>
                          <a:latin typeface="Times New Roman"/>
                          <a:ea typeface="Times New Roman"/>
                        </a:rPr>
                        <a:t>NYHA 4</a:t>
                      </a:r>
                      <a:endParaRPr b="0" lang="en-IN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5200">
                      <a:solidFill>
                        <a:srgbClr val="ffffff"/>
                      </a:solidFill>
                      <a:prstDash val="solid"/>
                    </a:lnL>
                    <a:lnR w="25200">
                      <a:solidFill>
                        <a:srgbClr val="ffffff"/>
                      </a:solidFill>
                      <a:prstDash val="solid"/>
                    </a:lnR>
                    <a:lnT w="25200">
                      <a:solidFill>
                        <a:srgbClr val="ffffff"/>
                      </a:solidFill>
                      <a:prstDash val="solid"/>
                    </a:lnT>
                    <a:lnB w="25200">
                      <a:solidFill>
                        <a:srgbClr val="fffff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500" spc="-1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10.9%</a:t>
                      </a:r>
                      <a:endParaRPr b="0" lang="en-IN" sz="15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n = 304</a:t>
                      </a:r>
                      <a:endParaRPr b="0" lang="en-IN" sz="9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5200">
                      <a:solidFill>
                        <a:srgbClr val="ffffff"/>
                      </a:solidFill>
                      <a:prstDash val="solid"/>
                    </a:lnL>
                    <a:lnR w="25200">
                      <a:solidFill>
                        <a:srgbClr val="ffffff"/>
                      </a:solidFill>
                      <a:prstDash val="solid"/>
                    </a:lnR>
                    <a:lnT w="25200">
                      <a:solidFill>
                        <a:srgbClr val="ffffff"/>
                      </a:solidFill>
                      <a:prstDash val="solid"/>
                    </a:lnT>
                    <a:lnB w="25200">
                      <a:solidFill>
                        <a:srgbClr val="ffffff"/>
                      </a:solidFill>
                      <a:prstDash val="solid"/>
                    </a:lnB>
                    <a:solidFill>
                      <a:srgbClr val="30659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500" spc="-1" strike="noStrike">
                          <a:solidFill>
                            <a:srgbClr val="1b2a30"/>
                          </a:solidFill>
                          <a:latin typeface="Times New Roman"/>
                          <a:ea typeface="Times New Roman"/>
                        </a:rPr>
                        <a:t>8.3%</a:t>
                      </a:r>
                      <a:endParaRPr b="0" lang="en-IN" sz="15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900" spc="-1" strike="noStrike">
                          <a:solidFill>
                            <a:srgbClr val="1b2a30"/>
                          </a:solidFill>
                          <a:latin typeface="Times New Roman"/>
                          <a:ea typeface="Times New Roman"/>
                        </a:rPr>
                        <a:t>n = 312</a:t>
                      </a:r>
                      <a:endParaRPr b="0" lang="en-IN" sz="9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5200">
                      <a:solidFill>
                        <a:srgbClr val="ffffff"/>
                      </a:solidFill>
                      <a:prstDash val="solid"/>
                    </a:lnL>
                    <a:lnR w="25200">
                      <a:solidFill>
                        <a:srgbClr val="ffffff"/>
                      </a:solidFill>
                      <a:prstDash val="solid"/>
                    </a:lnR>
                    <a:lnT w="25200">
                      <a:solidFill>
                        <a:srgbClr val="ffffff"/>
                      </a:solidFill>
                      <a:prstDash val="solid"/>
                    </a:lnT>
                    <a:lnB w="25200">
                      <a:solidFill>
                        <a:srgbClr val="ffffff"/>
                      </a:solidFill>
                      <a:prstDash val="solid"/>
                    </a:lnB>
                    <a:solidFill>
                      <a:srgbClr val="6d93b8"/>
                    </a:solidFill>
                  </a:tcPr>
                </a:tc>
              </a:tr>
            </a:tbl>
          </a:graphicData>
        </a:graphic>
      </p:graphicFrame>
      <p:sp>
        <p:nvSpPr>
          <p:cNvPr id="153" name="Shape 14"/>
          <p:cNvSpPr/>
          <p:nvPr/>
        </p:nvSpPr>
        <p:spPr>
          <a:xfrm>
            <a:off x="5120640" y="1325880"/>
            <a:ext cx="3565080" cy="6573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15"/>
          <p:cNvSpPr/>
          <p:nvPr/>
        </p:nvSpPr>
        <p:spPr>
          <a:xfrm>
            <a:off x="5257800" y="1581840"/>
            <a:ext cx="145080" cy="145080"/>
          </a:xfrm>
          <a:prstGeom prst="ellipse">
            <a:avLst/>
          </a:prstGeom>
          <a:solidFill>
            <a:srgbClr val="7b6cb3"/>
          </a:solidFill>
          <a:ln w="12600">
            <a:solidFill>
              <a:srgbClr val="7b6cb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720" rIns="7272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16"/>
          <p:cNvSpPr/>
          <p:nvPr/>
        </p:nvSpPr>
        <p:spPr>
          <a:xfrm>
            <a:off x="5532120" y="1380600"/>
            <a:ext cx="306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304 patients</a:t>
            </a: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17"/>
          <p:cNvSpPr/>
          <p:nvPr/>
        </p:nvSpPr>
        <p:spPr>
          <a:xfrm>
            <a:off x="5532120" y="1691640"/>
            <a:ext cx="306216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High-risk profile: Emergency + NYHA 4 (15% of cohort)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18"/>
          <p:cNvSpPr/>
          <p:nvPr/>
        </p:nvSpPr>
        <p:spPr>
          <a:xfrm>
            <a:off x="5120640" y="2084760"/>
            <a:ext cx="3565080" cy="6573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19"/>
          <p:cNvSpPr/>
          <p:nvPr/>
        </p:nvSpPr>
        <p:spPr>
          <a:xfrm>
            <a:off x="5257800" y="2340720"/>
            <a:ext cx="145080" cy="145080"/>
          </a:xfrm>
          <a:prstGeom prst="ellipse">
            <a:avLst/>
          </a:prstGeom>
          <a:solidFill>
            <a:srgbClr val="5fa8d3"/>
          </a:solidFill>
          <a:ln w="12600">
            <a:solidFill>
              <a:srgbClr val="5fa8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720" rIns="7272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20"/>
          <p:cNvSpPr/>
          <p:nvPr/>
        </p:nvSpPr>
        <p:spPr>
          <a:xfrm>
            <a:off x="5532120" y="2139840"/>
            <a:ext cx="306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10.9% vs 6.3%</a:t>
            </a: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21"/>
          <p:cNvSpPr/>
          <p:nvPr/>
        </p:nvSpPr>
        <p:spPr>
          <a:xfrm>
            <a:off x="5532120" y="2450520"/>
            <a:ext cx="306216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28-day readmission: high-risk vs everyone else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22"/>
          <p:cNvSpPr/>
          <p:nvPr/>
        </p:nvSpPr>
        <p:spPr>
          <a:xfrm>
            <a:off x="5120640" y="2843640"/>
            <a:ext cx="3565080" cy="6573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23"/>
          <p:cNvSpPr/>
          <p:nvPr/>
        </p:nvSpPr>
        <p:spPr>
          <a:xfrm>
            <a:off x="5257800" y="3099960"/>
            <a:ext cx="145080" cy="145080"/>
          </a:xfrm>
          <a:prstGeom prst="ellipse">
            <a:avLst/>
          </a:prstGeom>
          <a:solidFill>
            <a:srgbClr val="e07a5f"/>
          </a:solidFill>
          <a:ln w="12600">
            <a:solidFill>
              <a:srgbClr val="e07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2720" rIns="7272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 24"/>
          <p:cNvSpPr/>
          <p:nvPr/>
        </p:nvSpPr>
        <p:spPr>
          <a:xfrm>
            <a:off x="5532120" y="2898720"/>
            <a:ext cx="306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4.9% vs 1.3%</a:t>
            </a:r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25"/>
          <p:cNvSpPr/>
          <p:nvPr/>
        </p:nvSpPr>
        <p:spPr>
          <a:xfrm>
            <a:off x="5532120" y="3209400"/>
            <a:ext cx="306216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a6b72"/>
                </a:solidFill>
                <a:latin typeface="Times New Roman"/>
                <a:ea typeface="Times New Roman"/>
              </a:rPr>
              <a:t>28-day mortality: high-risk vs everyone else</a:t>
            </a:r>
            <a:endParaRPr b="0" lang="en-IN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26"/>
          <p:cNvSpPr/>
          <p:nvPr/>
        </p:nvSpPr>
        <p:spPr>
          <a:xfrm>
            <a:off x="457200" y="3675960"/>
            <a:ext cx="4022280" cy="10231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27"/>
          <p:cNvSpPr/>
          <p:nvPr/>
        </p:nvSpPr>
        <p:spPr>
          <a:xfrm>
            <a:off x="594360" y="3749040"/>
            <a:ext cx="3747960" cy="8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FINDING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Readmission rises with severity and is highest (10.9%) for emergency NYHA 4 admissions — the darkest cell.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SO WHAT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This group also dies almost 4× as often in the first 28 days.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28"/>
          <p:cNvSpPr/>
          <p:nvPr/>
        </p:nvSpPr>
        <p:spPr>
          <a:xfrm>
            <a:off x="4663440" y="3675960"/>
            <a:ext cx="4022280" cy="10231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29"/>
          <p:cNvSpPr/>
          <p:nvPr/>
        </p:nvSpPr>
        <p:spPr>
          <a:xfrm>
            <a:off x="4800600" y="3749040"/>
            <a:ext cx="3747960" cy="8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ACTION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Tier 1 (Emergency + NYHA 4): call within 72 h and clinic within 7 days.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ACTION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Tier 2 (planned NYHA 4 or Emergency + NYHA 3): clinic within 14 days.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Freeform 4"/>
          <p:cNvSpPr/>
          <p:nvPr/>
        </p:nvSpPr>
        <p:spPr>
          <a:xfrm>
            <a:off x="8629560" y="30600"/>
            <a:ext cx="484920" cy="799560"/>
          </a:xfrm>
          <a:custGeom>
            <a:avLst/>
            <a:gdLst>
              <a:gd name="textAreaLeft" fmla="*/ 0 w 484920"/>
              <a:gd name="textAreaRight" fmla="*/ 485640 w 484920"/>
              <a:gd name="textAreaTop" fmla="*/ 0 h 799560"/>
              <a:gd name="textAreaBottom" fmla="*/ 800280 h 799560"/>
            </a:gdLst>
            <a:ahLst/>
            <a:rect l="textAreaLeft" t="textAreaTop" r="textAreaRight" b="textAreaBottom"/>
            <a:pathLst>
              <a:path w="647700" h="1066800">
                <a:moveTo>
                  <a:pt x="0" y="0"/>
                </a:moveTo>
                <a:lnTo>
                  <a:pt x="647700" y="0"/>
                </a:lnTo>
                <a:lnTo>
                  <a:pt x="647700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hape 0"/>
          <p:cNvSpPr/>
          <p:nvPr/>
        </p:nvSpPr>
        <p:spPr>
          <a:xfrm>
            <a:off x="457200" y="228600"/>
            <a:ext cx="1233360" cy="245880"/>
          </a:xfrm>
          <a:prstGeom prst="roundRect">
            <a:avLst>
              <a:gd name="adj" fmla="val 48148"/>
            </a:avLst>
          </a:prstGeom>
          <a:solidFill>
            <a:srgbClr val="2a9d8f"/>
          </a:solidFill>
          <a:ln w="1260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1"/>
          <p:cNvSpPr/>
          <p:nvPr/>
        </p:nvSpPr>
        <p:spPr>
          <a:xfrm>
            <a:off x="457200" y="228600"/>
            <a:ext cx="123336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7" strike="noStrike">
                <a:solidFill>
                  <a:srgbClr val="ffffff"/>
                </a:solidFill>
                <a:latin typeface="Times New Roman"/>
                <a:ea typeface="Times New Roman"/>
              </a:rPr>
              <a:t>PRESCRIPTIVE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2"/>
          <p:cNvSpPr/>
          <p:nvPr/>
        </p:nvSpPr>
        <p:spPr>
          <a:xfrm>
            <a:off x="1783080" y="228600"/>
            <a:ext cx="274212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1f7a6f"/>
                </a:solidFill>
                <a:latin typeface="Times New Roman"/>
                <a:ea typeface="Times New Roman"/>
              </a:rPr>
              <a:t>What should we do?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3"/>
          <p:cNvSpPr/>
          <p:nvPr/>
        </p:nvSpPr>
        <p:spPr>
          <a:xfrm>
            <a:off x="457200" y="52128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Biomarker Danger Zones</a:t>
            </a:r>
            <a:endParaRPr b="0" lang="en-IN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4"/>
          <p:cNvSpPr/>
          <p:nvPr/>
        </p:nvSpPr>
        <p:spPr>
          <a:xfrm>
            <a:off x="457200" y="969120"/>
            <a:ext cx="822852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5"/>
          <p:cNvSpPr/>
          <p:nvPr/>
        </p:nvSpPr>
        <p:spPr>
          <a:xfrm>
            <a:off x="51206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6"/>
          <p:cNvSpPr/>
          <p:nvPr/>
        </p:nvSpPr>
        <p:spPr>
          <a:xfrm>
            <a:off x="51206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KPIs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7"/>
          <p:cNvSpPr/>
          <p:nvPr/>
        </p:nvSpPr>
        <p:spPr>
          <a:xfrm>
            <a:off x="60260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8"/>
          <p:cNvSpPr/>
          <p:nvPr/>
        </p:nvSpPr>
        <p:spPr>
          <a:xfrm>
            <a:off x="60260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Descriptive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9"/>
          <p:cNvSpPr/>
          <p:nvPr/>
        </p:nvSpPr>
        <p:spPr>
          <a:xfrm>
            <a:off x="69310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 w="936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10"/>
          <p:cNvSpPr/>
          <p:nvPr/>
        </p:nvSpPr>
        <p:spPr>
          <a:xfrm>
            <a:off x="69310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Prescriptive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11"/>
          <p:cNvSpPr/>
          <p:nvPr/>
        </p:nvSpPr>
        <p:spPr>
          <a:xfrm>
            <a:off x="78364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12"/>
          <p:cNvSpPr/>
          <p:nvPr/>
        </p:nvSpPr>
        <p:spPr>
          <a:xfrm>
            <a:off x="78364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Predictive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83" name="Chart 0"/>
          <p:cNvGraphicFramePr/>
          <p:nvPr/>
        </p:nvGraphicFramePr>
        <p:xfrm>
          <a:off x="365760" y="1261800"/>
          <a:ext cx="4205160" cy="233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84" name="Chart 1"/>
          <p:cNvGraphicFramePr/>
          <p:nvPr/>
        </p:nvGraphicFramePr>
        <p:xfrm>
          <a:off x="4663440" y="1261800"/>
          <a:ext cx="4113720" cy="233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5" name="Shape 13"/>
          <p:cNvSpPr/>
          <p:nvPr/>
        </p:nvSpPr>
        <p:spPr>
          <a:xfrm>
            <a:off x="457200" y="3675960"/>
            <a:ext cx="4022280" cy="10231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14"/>
          <p:cNvSpPr/>
          <p:nvPr/>
        </p:nvSpPr>
        <p:spPr>
          <a:xfrm>
            <a:off x="594360" y="3749040"/>
            <a:ext cx="3747960" cy="8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FINDING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In biventricular HF, severe HF plus abnormal kidneys gives 14.2% mortality — 10× the 1.4% of patients with neither.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ACTION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Make this combination an automatic trigger for a nephrology consult.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15"/>
          <p:cNvSpPr/>
          <p:nvPr/>
        </p:nvSpPr>
        <p:spPr>
          <a:xfrm>
            <a:off x="4663440" y="3675960"/>
            <a:ext cx="4022280" cy="10231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16"/>
          <p:cNvSpPr/>
          <p:nvPr/>
        </p:nvSpPr>
        <p:spPr>
          <a:xfrm>
            <a:off x="4800600" y="3749040"/>
            <a:ext cx="3747960" cy="8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FINDING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Risk climbs steadily above 5.0 mmol/L (2.3% → 14.8%), yet 78% of the &gt;6.0 group still get spironolactone.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ACTION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K⁺ &gt; 5.0: recheck in 48–72 h; ≥ 5.5: treat and reduce or hold spironolactone.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Freeform 6"/>
          <p:cNvSpPr/>
          <p:nvPr/>
        </p:nvSpPr>
        <p:spPr>
          <a:xfrm>
            <a:off x="8629560" y="30600"/>
            <a:ext cx="484920" cy="799560"/>
          </a:xfrm>
          <a:custGeom>
            <a:avLst/>
            <a:gdLst>
              <a:gd name="textAreaLeft" fmla="*/ 0 w 484920"/>
              <a:gd name="textAreaRight" fmla="*/ 485640 w 484920"/>
              <a:gd name="textAreaTop" fmla="*/ 0 h 799560"/>
              <a:gd name="textAreaBottom" fmla="*/ 800280 h 799560"/>
            </a:gdLst>
            <a:ahLst/>
            <a:rect l="textAreaLeft" t="textAreaTop" r="textAreaRight" b="textAreaBottom"/>
            <a:pathLst>
              <a:path w="647700" h="1066800">
                <a:moveTo>
                  <a:pt x="0" y="0"/>
                </a:moveTo>
                <a:lnTo>
                  <a:pt x="647700" y="0"/>
                </a:lnTo>
                <a:lnTo>
                  <a:pt x="647700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457200" y="228600"/>
            <a:ext cx="1233360" cy="245880"/>
          </a:xfrm>
          <a:prstGeom prst="roundRect">
            <a:avLst>
              <a:gd name="adj" fmla="val 48148"/>
            </a:avLst>
          </a:prstGeom>
          <a:solidFill>
            <a:srgbClr val="2a9d8f"/>
          </a:solidFill>
          <a:ln w="1260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Text 1"/>
          <p:cNvSpPr/>
          <p:nvPr/>
        </p:nvSpPr>
        <p:spPr>
          <a:xfrm>
            <a:off x="457200" y="228600"/>
            <a:ext cx="123336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7" strike="noStrike">
                <a:solidFill>
                  <a:srgbClr val="ffffff"/>
                </a:solidFill>
                <a:latin typeface="Times New Roman"/>
                <a:ea typeface="Times New Roman"/>
              </a:rPr>
              <a:t>PRESCRIPTIVE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2"/>
          <p:cNvSpPr/>
          <p:nvPr/>
        </p:nvSpPr>
        <p:spPr>
          <a:xfrm>
            <a:off x="1783080" y="228600"/>
            <a:ext cx="274212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1f7a6f"/>
                </a:solidFill>
                <a:latin typeface="Times New Roman"/>
                <a:ea typeface="Times New Roman"/>
              </a:rPr>
              <a:t>What should we do?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3"/>
          <p:cNvSpPr/>
          <p:nvPr/>
        </p:nvSpPr>
        <p:spPr>
          <a:xfrm>
            <a:off x="457200" y="52128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Care-Process Gaps</a:t>
            </a:r>
            <a:endParaRPr b="0" lang="en-IN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4"/>
          <p:cNvSpPr/>
          <p:nvPr/>
        </p:nvSpPr>
        <p:spPr>
          <a:xfrm>
            <a:off x="457200" y="969120"/>
            <a:ext cx="822852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5"/>
          <p:cNvSpPr/>
          <p:nvPr/>
        </p:nvSpPr>
        <p:spPr>
          <a:xfrm>
            <a:off x="51206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6"/>
          <p:cNvSpPr/>
          <p:nvPr/>
        </p:nvSpPr>
        <p:spPr>
          <a:xfrm>
            <a:off x="51206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KPIs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7"/>
          <p:cNvSpPr/>
          <p:nvPr/>
        </p:nvSpPr>
        <p:spPr>
          <a:xfrm>
            <a:off x="60260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 8"/>
          <p:cNvSpPr/>
          <p:nvPr/>
        </p:nvSpPr>
        <p:spPr>
          <a:xfrm>
            <a:off x="60260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Descriptive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9"/>
          <p:cNvSpPr/>
          <p:nvPr/>
        </p:nvSpPr>
        <p:spPr>
          <a:xfrm>
            <a:off x="69310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 w="936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10"/>
          <p:cNvSpPr/>
          <p:nvPr/>
        </p:nvSpPr>
        <p:spPr>
          <a:xfrm>
            <a:off x="69310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Prescriptive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1"/>
          <p:cNvSpPr/>
          <p:nvPr/>
        </p:nvSpPr>
        <p:spPr>
          <a:xfrm>
            <a:off x="78364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 12"/>
          <p:cNvSpPr/>
          <p:nvPr/>
        </p:nvSpPr>
        <p:spPr>
          <a:xfrm>
            <a:off x="78364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Predictive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03" name="Chart 0"/>
          <p:cNvGraphicFramePr/>
          <p:nvPr/>
        </p:nvGraphicFramePr>
        <p:xfrm>
          <a:off x="365760" y="1261800"/>
          <a:ext cx="4205160" cy="233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04" name="Chart 1"/>
          <p:cNvGraphicFramePr/>
          <p:nvPr/>
        </p:nvGraphicFramePr>
        <p:xfrm>
          <a:off x="4663440" y="1261800"/>
          <a:ext cx="4113720" cy="233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5" name="Shape 13"/>
          <p:cNvSpPr/>
          <p:nvPr/>
        </p:nvSpPr>
        <p:spPr>
          <a:xfrm>
            <a:off x="457200" y="3675960"/>
            <a:ext cx="4022280" cy="10231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 14"/>
          <p:cNvSpPr/>
          <p:nvPr/>
        </p:nvSpPr>
        <p:spPr>
          <a:xfrm>
            <a:off x="594360" y="3749040"/>
            <a:ext cx="3747960" cy="8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FINDING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32% have no echo on record, and they are readmitted far more often: 50.1% vs 33.1%.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ACTION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Make a completed echo a mandatory pre-discharge item.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15"/>
          <p:cNvSpPr/>
          <p:nvPr/>
        </p:nvSpPr>
        <p:spPr>
          <a:xfrm>
            <a:off x="4663440" y="3675960"/>
            <a:ext cx="4022280" cy="10231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16"/>
          <p:cNvSpPr/>
          <p:nvPr/>
        </p:nvSpPr>
        <p:spPr>
          <a:xfrm>
            <a:off x="4800600" y="3749040"/>
            <a:ext cx="3747960" cy="8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FINDING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Patients who leave against advice are twice as often severely ill and 18.7% die within 28 days (vs 0.4%).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1f7a6f"/>
                </a:solidFill>
                <a:latin typeface="Times New Roman"/>
                <a:ea typeface="Times New Roman"/>
              </a:rPr>
              <a:t>ACTION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Senior-doctor talk before they leave, address cost/family reasons, 48-hour follow-up call.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Freeform 7"/>
          <p:cNvSpPr/>
          <p:nvPr/>
        </p:nvSpPr>
        <p:spPr>
          <a:xfrm>
            <a:off x="8629560" y="30600"/>
            <a:ext cx="484920" cy="799560"/>
          </a:xfrm>
          <a:custGeom>
            <a:avLst/>
            <a:gdLst>
              <a:gd name="textAreaLeft" fmla="*/ 0 w 484920"/>
              <a:gd name="textAreaRight" fmla="*/ 485640 w 484920"/>
              <a:gd name="textAreaTop" fmla="*/ 0 h 799560"/>
              <a:gd name="textAreaBottom" fmla="*/ 800280 h 799560"/>
            </a:gdLst>
            <a:ahLst/>
            <a:rect l="textAreaLeft" t="textAreaTop" r="textAreaRight" b="textAreaBottom"/>
            <a:pathLst>
              <a:path w="647700" h="1066800">
                <a:moveTo>
                  <a:pt x="0" y="0"/>
                </a:moveTo>
                <a:lnTo>
                  <a:pt x="647700" y="0"/>
                </a:lnTo>
                <a:lnTo>
                  <a:pt x="647700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0"/>
          <p:cNvSpPr/>
          <p:nvPr/>
        </p:nvSpPr>
        <p:spPr>
          <a:xfrm>
            <a:off x="457200" y="228600"/>
            <a:ext cx="1233360" cy="245880"/>
          </a:xfrm>
          <a:prstGeom prst="roundRect">
            <a:avLst>
              <a:gd name="adj" fmla="val 48148"/>
            </a:avLst>
          </a:prstGeom>
          <a:solidFill>
            <a:srgbClr val="7b6cb3"/>
          </a:solidFill>
          <a:ln w="12600">
            <a:solidFill>
              <a:srgbClr val="7b6cb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1"/>
          <p:cNvSpPr/>
          <p:nvPr/>
        </p:nvSpPr>
        <p:spPr>
          <a:xfrm>
            <a:off x="457200" y="228600"/>
            <a:ext cx="123336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97" strike="noStrike">
                <a:solidFill>
                  <a:srgbClr val="ffffff"/>
                </a:solidFill>
                <a:latin typeface="Times New Roman"/>
                <a:ea typeface="Times New Roman"/>
              </a:rPr>
              <a:t>PREDICTIVE</a:t>
            </a:r>
            <a:endParaRPr b="0" lang="en-IN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2"/>
          <p:cNvSpPr/>
          <p:nvPr/>
        </p:nvSpPr>
        <p:spPr>
          <a:xfrm>
            <a:off x="1783080" y="228600"/>
            <a:ext cx="274212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5e4f99"/>
                </a:solidFill>
                <a:latin typeface="Times New Roman"/>
                <a:ea typeface="Times New Roman"/>
              </a:rPr>
              <a:t>What will happen?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3"/>
          <p:cNvSpPr/>
          <p:nvPr/>
        </p:nvSpPr>
        <p:spPr>
          <a:xfrm>
            <a:off x="457200" y="52128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Death Is Predictable, Readmission Is Not</a:t>
            </a:r>
            <a:endParaRPr b="0" lang="en-IN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4"/>
          <p:cNvSpPr/>
          <p:nvPr/>
        </p:nvSpPr>
        <p:spPr>
          <a:xfrm>
            <a:off x="457200" y="969120"/>
            <a:ext cx="822852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5"/>
          <p:cNvSpPr/>
          <p:nvPr/>
        </p:nvSpPr>
        <p:spPr>
          <a:xfrm>
            <a:off x="51206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 6"/>
          <p:cNvSpPr/>
          <p:nvPr/>
        </p:nvSpPr>
        <p:spPr>
          <a:xfrm>
            <a:off x="51206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KPIs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7"/>
          <p:cNvSpPr/>
          <p:nvPr/>
        </p:nvSpPr>
        <p:spPr>
          <a:xfrm>
            <a:off x="602604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8"/>
          <p:cNvSpPr/>
          <p:nvPr/>
        </p:nvSpPr>
        <p:spPr>
          <a:xfrm>
            <a:off x="602604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Descriptive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9"/>
          <p:cNvSpPr/>
          <p:nvPr/>
        </p:nvSpPr>
        <p:spPr>
          <a:xfrm>
            <a:off x="69310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360">
            <a:solidFill>
              <a:srgbClr val="c3d0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10"/>
          <p:cNvSpPr/>
          <p:nvPr/>
        </p:nvSpPr>
        <p:spPr>
          <a:xfrm>
            <a:off x="69310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8595a0"/>
                </a:solidFill>
                <a:latin typeface="Times New Roman"/>
                <a:ea typeface="Times New Roman"/>
              </a:rPr>
              <a:t>Prescriptive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11"/>
          <p:cNvSpPr/>
          <p:nvPr/>
        </p:nvSpPr>
        <p:spPr>
          <a:xfrm>
            <a:off x="7836480" y="4827960"/>
            <a:ext cx="821880" cy="181800"/>
          </a:xfrm>
          <a:prstGeom prst="roundRect">
            <a:avLst>
              <a:gd name="adj" fmla="val 50000"/>
            </a:avLst>
          </a:prstGeom>
          <a:solidFill>
            <a:srgbClr val="7b6cb3"/>
          </a:solidFill>
          <a:ln w="9360">
            <a:solidFill>
              <a:srgbClr val="7b6cb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 12"/>
          <p:cNvSpPr/>
          <p:nvPr/>
        </p:nvSpPr>
        <p:spPr>
          <a:xfrm>
            <a:off x="7836480" y="4827960"/>
            <a:ext cx="8218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Predictive</a:t>
            </a:r>
            <a:endParaRPr b="0" lang="en-IN" sz="8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23" name="Chart 0"/>
          <p:cNvGraphicFramePr/>
          <p:nvPr/>
        </p:nvGraphicFramePr>
        <p:xfrm>
          <a:off x="365760" y="1261800"/>
          <a:ext cx="4205160" cy="233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24" name="Chart 1"/>
          <p:cNvGraphicFramePr/>
          <p:nvPr/>
        </p:nvGraphicFramePr>
        <p:xfrm>
          <a:off x="4663440" y="1261800"/>
          <a:ext cx="4113720" cy="233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5" name="Shape 13"/>
          <p:cNvSpPr/>
          <p:nvPr/>
        </p:nvSpPr>
        <p:spPr>
          <a:xfrm>
            <a:off x="457200" y="3675960"/>
            <a:ext cx="4022280" cy="10231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14"/>
          <p:cNvSpPr/>
          <p:nvPr/>
        </p:nvSpPr>
        <p:spPr>
          <a:xfrm>
            <a:off x="594360" y="3749040"/>
            <a:ext cx="3747960" cy="8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5e4f99"/>
                </a:solidFill>
                <a:latin typeface="Times New Roman"/>
                <a:ea typeface="Times New Roman"/>
              </a:rPr>
              <a:t>FINDING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Mortality models score 0.75–0.90 from admission data alone (best: 0.90 at 28 days). Readmission stays at 0.66.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5e4f99"/>
                </a:solidFill>
                <a:latin typeface="Times New Roman"/>
                <a:ea typeface="Times New Roman"/>
              </a:rPr>
              <a:t>WHY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Readmission depends on what happens after discharge, which this dataset does not record.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15"/>
          <p:cNvSpPr/>
          <p:nvPr/>
        </p:nvSpPr>
        <p:spPr>
          <a:xfrm>
            <a:off x="4663440" y="3675960"/>
            <a:ext cx="4022280" cy="10231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360">
            <a:solidFill>
              <a:srgbClr val="d6e3e6"/>
            </a:solidFill>
            <a:round/>
          </a:ln>
          <a:effectLst>
            <a:outerShdw dist="25560" dir="5400000" blurRad="76320" rotWithShape="0">
              <a:srgbClr val="0a263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16"/>
          <p:cNvSpPr/>
          <p:nvPr/>
        </p:nvSpPr>
        <p:spPr>
          <a:xfrm>
            <a:off x="4800600" y="3749040"/>
            <a:ext cx="3747960" cy="87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5e4f99"/>
                </a:solidFill>
                <a:latin typeface="Times New Roman"/>
                <a:ea typeface="Times New Roman"/>
              </a:rPr>
              <a:t>FINDING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12.4% of the top-risk decile die vs ≤ 3% elsewhere; flagging the top 10% catches 25 of 37 early deaths.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000" spc="49" strike="noStrike">
                <a:solidFill>
                  <a:srgbClr val="5e4f99"/>
                </a:solidFill>
                <a:latin typeface="Times New Roman"/>
                <a:ea typeface="Times New Roman"/>
              </a:rPr>
              <a:t>ACTION  </a:t>
            </a:r>
            <a:r>
              <a:rPr b="0" lang="en-US" sz="11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Run the 28-day death-risk score on every admission; collect follow-up data for readmission.</a:t>
            </a:r>
            <a:endParaRPr b="0" lang="en-IN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Freeform 8"/>
          <p:cNvSpPr/>
          <p:nvPr/>
        </p:nvSpPr>
        <p:spPr>
          <a:xfrm>
            <a:off x="8629560" y="30600"/>
            <a:ext cx="484920" cy="799560"/>
          </a:xfrm>
          <a:custGeom>
            <a:avLst/>
            <a:gdLst>
              <a:gd name="textAreaLeft" fmla="*/ 0 w 484920"/>
              <a:gd name="textAreaRight" fmla="*/ 485640 w 484920"/>
              <a:gd name="textAreaTop" fmla="*/ 0 h 799560"/>
              <a:gd name="textAreaBottom" fmla="*/ 800280 h 799560"/>
            </a:gdLst>
            <a:ahLst/>
            <a:rect l="textAreaLeft" t="textAreaTop" r="textAreaRight" b="textAreaBottom"/>
            <a:pathLst>
              <a:path w="647700" h="1066800">
                <a:moveTo>
                  <a:pt x="0" y="0"/>
                </a:moveTo>
                <a:lnTo>
                  <a:pt x="647700" y="0"/>
                </a:lnTo>
                <a:lnTo>
                  <a:pt x="647700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ext 0"/>
          <p:cNvSpPr/>
          <p:nvPr/>
        </p:nvSpPr>
        <p:spPr>
          <a:xfrm>
            <a:off x="457200" y="49032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Overall Dashboard Conclusion</a:t>
            </a:r>
            <a:endParaRPr b="0" lang="en-IN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Shape 1"/>
          <p:cNvSpPr/>
          <p:nvPr/>
        </p:nvSpPr>
        <p:spPr>
          <a:xfrm>
            <a:off x="457200" y="1221840"/>
            <a:ext cx="1937520" cy="2330640"/>
          </a:xfrm>
          <a:prstGeom prst="roundRect">
            <a:avLst>
              <a:gd name="adj" fmla="val 4717"/>
            </a:avLst>
          </a:prstGeom>
          <a:solidFill>
            <a:srgbClr val="16414d"/>
          </a:solidFill>
          <a:ln w="9360">
            <a:solidFill>
              <a:srgbClr val="2560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Shape 2"/>
          <p:cNvSpPr/>
          <p:nvPr/>
        </p:nvSpPr>
        <p:spPr>
          <a:xfrm>
            <a:off x="621720" y="1386360"/>
            <a:ext cx="456120" cy="456120"/>
          </a:xfrm>
          <a:prstGeom prst="ellipse">
            <a:avLst/>
          </a:prstGeom>
          <a:solidFill>
            <a:srgbClr val="e07a5f"/>
          </a:solidFill>
          <a:ln w="12600">
            <a:solidFill>
              <a:srgbClr val="e07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3" name="Image 0" descr="preencoded.png"/>
          <p:cNvPicPr/>
          <p:nvPr/>
        </p:nvPicPr>
        <p:blipFill>
          <a:blip r:embed="rId2"/>
          <a:stretch/>
        </p:blipFill>
        <p:spPr>
          <a:xfrm>
            <a:off x="740520" y="1505160"/>
            <a:ext cx="218520" cy="218520"/>
          </a:xfrm>
          <a:prstGeom prst="rect">
            <a:avLst/>
          </a:prstGeom>
          <a:ln w="0">
            <a:noFill/>
          </a:ln>
        </p:spPr>
      </p:pic>
      <p:sp>
        <p:nvSpPr>
          <p:cNvPr id="234" name="Text 3"/>
          <p:cNvSpPr/>
          <p:nvPr/>
        </p:nvSpPr>
        <p:spPr>
          <a:xfrm>
            <a:off x="1170360" y="1386360"/>
            <a:ext cx="1187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KPIs</a:t>
            </a:r>
            <a:endParaRPr b="0" lang="en-IN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4"/>
          <p:cNvSpPr/>
          <p:nvPr/>
        </p:nvSpPr>
        <p:spPr>
          <a:xfrm>
            <a:off x="621720" y="1971720"/>
            <a:ext cx="164484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c9dde1"/>
                </a:solidFill>
                <a:latin typeface="Times New Roman"/>
                <a:ea typeface="Times New Roman"/>
              </a:rPr>
              <a:t>38.5% readmitted vs 2.8% dead at 6 months; 1 in 3 has no echo.</a:t>
            </a:r>
            <a:endParaRPr b="0" lang="en-IN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5"/>
          <p:cNvSpPr/>
          <p:nvPr/>
        </p:nvSpPr>
        <p:spPr>
          <a:xfrm>
            <a:off x="621720" y="2913480"/>
            <a:ext cx="16448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07a5f"/>
                </a:solidFill>
                <a:latin typeface="Times New Roman"/>
                <a:ea typeface="Times New Roman"/>
              </a:rPr>
              <a:t>→ </a:t>
            </a:r>
            <a:r>
              <a:rPr b="1" lang="en-US" sz="1200" spc="-1" strike="noStrike">
                <a:solidFill>
                  <a:srgbClr val="e07a5f"/>
                </a:solidFill>
                <a:latin typeface="Times New Roman"/>
                <a:ea typeface="Times New Roman"/>
              </a:rPr>
              <a:t>Track readmission, not just mortality.</a:t>
            </a:r>
            <a:endParaRPr b="0" lang="en-IN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Shape 6"/>
          <p:cNvSpPr/>
          <p:nvPr/>
        </p:nvSpPr>
        <p:spPr>
          <a:xfrm>
            <a:off x="2541960" y="1221840"/>
            <a:ext cx="1937520" cy="2330640"/>
          </a:xfrm>
          <a:prstGeom prst="roundRect">
            <a:avLst>
              <a:gd name="adj" fmla="val 4717"/>
            </a:avLst>
          </a:prstGeom>
          <a:solidFill>
            <a:srgbClr val="16414d"/>
          </a:solidFill>
          <a:ln w="9360">
            <a:solidFill>
              <a:srgbClr val="2560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Shape 7"/>
          <p:cNvSpPr/>
          <p:nvPr/>
        </p:nvSpPr>
        <p:spPr>
          <a:xfrm>
            <a:off x="2706480" y="1386360"/>
            <a:ext cx="456120" cy="456120"/>
          </a:xfrm>
          <a:prstGeom prst="ellipse">
            <a:avLst/>
          </a:prstGeom>
          <a:solidFill>
            <a:srgbClr val="3d7ea6"/>
          </a:solidFill>
          <a:ln w="12600">
            <a:solidFill>
              <a:srgbClr val="3d7e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9" name="Image 1" descr="preencoded.png"/>
          <p:cNvPicPr/>
          <p:nvPr/>
        </p:nvPicPr>
        <p:blipFill>
          <a:blip r:embed="rId3"/>
          <a:stretch/>
        </p:blipFill>
        <p:spPr>
          <a:xfrm>
            <a:off x="2825640" y="1505160"/>
            <a:ext cx="218520" cy="218520"/>
          </a:xfrm>
          <a:prstGeom prst="rect">
            <a:avLst/>
          </a:prstGeom>
          <a:ln w="0">
            <a:noFill/>
          </a:ln>
        </p:spPr>
      </p:pic>
      <p:sp>
        <p:nvSpPr>
          <p:cNvPr id="240" name="Text 8"/>
          <p:cNvSpPr/>
          <p:nvPr/>
        </p:nvSpPr>
        <p:spPr>
          <a:xfrm>
            <a:off x="3255120" y="1386360"/>
            <a:ext cx="1187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Descriptive</a:t>
            </a:r>
            <a:endParaRPr b="0" lang="en-IN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 9"/>
          <p:cNvSpPr/>
          <p:nvPr/>
        </p:nvSpPr>
        <p:spPr>
          <a:xfrm>
            <a:off x="2706480" y="1971720"/>
            <a:ext cx="164484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c9dde1"/>
                </a:solidFill>
                <a:latin typeface="Times New Roman"/>
                <a:ea typeface="Times New Roman"/>
              </a:rPr>
              <a:t>Elderly, frail cohort; readmission builds for 6 months, deaths cluster in week 1.</a:t>
            </a:r>
            <a:endParaRPr b="0" lang="en-IN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 10"/>
          <p:cNvSpPr/>
          <p:nvPr/>
        </p:nvSpPr>
        <p:spPr>
          <a:xfrm>
            <a:off x="2706480" y="2913480"/>
            <a:ext cx="16448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7fb4d9"/>
                </a:solidFill>
                <a:latin typeface="Times New Roman"/>
                <a:ea typeface="Times New Roman"/>
              </a:rPr>
              <a:t>→ </a:t>
            </a:r>
            <a:r>
              <a:rPr b="1" lang="en-US" sz="1200" spc="-1" strike="noStrike">
                <a:solidFill>
                  <a:srgbClr val="7fb4d9"/>
                </a:solidFill>
                <a:latin typeface="Times New Roman"/>
                <a:ea typeface="Times New Roman"/>
              </a:rPr>
              <a:t>Design care around frail, elderly patients.</a:t>
            </a:r>
            <a:endParaRPr b="0" lang="en-IN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Shape 11"/>
          <p:cNvSpPr/>
          <p:nvPr/>
        </p:nvSpPr>
        <p:spPr>
          <a:xfrm>
            <a:off x="4626720" y="1221840"/>
            <a:ext cx="1937520" cy="2330640"/>
          </a:xfrm>
          <a:prstGeom prst="roundRect">
            <a:avLst>
              <a:gd name="adj" fmla="val 4717"/>
            </a:avLst>
          </a:prstGeom>
          <a:solidFill>
            <a:srgbClr val="16414d"/>
          </a:solidFill>
          <a:ln w="9360">
            <a:solidFill>
              <a:srgbClr val="2560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Shape 12"/>
          <p:cNvSpPr/>
          <p:nvPr/>
        </p:nvSpPr>
        <p:spPr>
          <a:xfrm>
            <a:off x="4791600" y="1386360"/>
            <a:ext cx="456120" cy="456120"/>
          </a:xfrm>
          <a:prstGeom prst="ellipse">
            <a:avLst/>
          </a:prstGeom>
          <a:solidFill>
            <a:srgbClr val="2a9d8f"/>
          </a:solidFill>
          <a:ln w="12600">
            <a:solidFill>
              <a:srgbClr val="2a9d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5" name="Image 2" descr="preencoded.png"/>
          <p:cNvPicPr/>
          <p:nvPr/>
        </p:nvPicPr>
        <p:blipFill>
          <a:blip r:embed="rId4"/>
          <a:stretch/>
        </p:blipFill>
        <p:spPr>
          <a:xfrm>
            <a:off x="4910400" y="1505160"/>
            <a:ext cx="218520" cy="218520"/>
          </a:xfrm>
          <a:prstGeom prst="rect">
            <a:avLst/>
          </a:prstGeom>
          <a:ln w="0">
            <a:noFill/>
          </a:ln>
        </p:spPr>
      </p:pic>
      <p:sp>
        <p:nvSpPr>
          <p:cNvPr id="246" name="Text 13"/>
          <p:cNvSpPr/>
          <p:nvPr/>
        </p:nvSpPr>
        <p:spPr>
          <a:xfrm>
            <a:off x="5340240" y="1386360"/>
            <a:ext cx="1187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Prescriptive</a:t>
            </a:r>
            <a:endParaRPr b="0" lang="en-IN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14"/>
          <p:cNvSpPr/>
          <p:nvPr/>
        </p:nvSpPr>
        <p:spPr>
          <a:xfrm>
            <a:off x="4791600" y="1971720"/>
            <a:ext cx="164484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c9dde1"/>
                </a:solidFill>
                <a:latin typeface="Times New Roman"/>
                <a:ea typeface="Times New Roman"/>
              </a:rPr>
              <a:t>Stage kidneys, tier follow-up, act on K⁺ &gt; 5.0, close echo &amp; leaving-early gaps.</a:t>
            </a:r>
            <a:endParaRPr b="0" lang="en-IN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 15"/>
          <p:cNvSpPr/>
          <p:nvPr/>
        </p:nvSpPr>
        <p:spPr>
          <a:xfrm>
            <a:off x="4791600" y="2913480"/>
            <a:ext cx="16448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2a9d8f"/>
                </a:solidFill>
                <a:latin typeface="Times New Roman"/>
                <a:ea typeface="Times New Roman"/>
              </a:rPr>
              <a:t>→ </a:t>
            </a:r>
            <a:r>
              <a:rPr b="1" lang="en-US" sz="1200" spc="-1" strike="noStrike">
                <a:solidFill>
                  <a:srgbClr val="2a9d8f"/>
                </a:solidFill>
                <a:latin typeface="Times New Roman"/>
                <a:ea typeface="Times New Roman"/>
              </a:rPr>
              <a:t>Turn each risk group into a care pathway.</a:t>
            </a:r>
            <a:endParaRPr b="0" lang="en-IN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Shape 16"/>
          <p:cNvSpPr/>
          <p:nvPr/>
        </p:nvSpPr>
        <p:spPr>
          <a:xfrm>
            <a:off x="6711840" y="1221840"/>
            <a:ext cx="1937520" cy="2330640"/>
          </a:xfrm>
          <a:prstGeom prst="roundRect">
            <a:avLst>
              <a:gd name="adj" fmla="val 4717"/>
            </a:avLst>
          </a:prstGeom>
          <a:solidFill>
            <a:srgbClr val="16414d"/>
          </a:solidFill>
          <a:ln w="9360">
            <a:solidFill>
              <a:srgbClr val="2560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Shape 17"/>
          <p:cNvSpPr/>
          <p:nvPr/>
        </p:nvSpPr>
        <p:spPr>
          <a:xfrm>
            <a:off x="6876360" y="1386360"/>
            <a:ext cx="456120" cy="456120"/>
          </a:xfrm>
          <a:prstGeom prst="ellipse">
            <a:avLst/>
          </a:prstGeom>
          <a:solidFill>
            <a:srgbClr val="7b6cb3"/>
          </a:solidFill>
          <a:ln w="12600">
            <a:solidFill>
              <a:srgbClr val="7b6cb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1" name="Image 3" descr="preencoded.png"/>
          <p:cNvPicPr/>
          <p:nvPr/>
        </p:nvPicPr>
        <p:blipFill>
          <a:blip r:embed="rId5"/>
          <a:stretch/>
        </p:blipFill>
        <p:spPr>
          <a:xfrm>
            <a:off x="6995160" y="1505160"/>
            <a:ext cx="218520" cy="218520"/>
          </a:xfrm>
          <a:prstGeom prst="rect">
            <a:avLst/>
          </a:prstGeom>
          <a:ln w="0">
            <a:noFill/>
          </a:ln>
        </p:spPr>
      </p:pic>
      <p:sp>
        <p:nvSpPr>
          <p:cNvPr id="252" name="Text 18"/>
          <p:cNvSpPr/>
          <p:nvPr/>
        </p:nvSpPr>
        <p:spPr>
          <a:xfrm>
            <a:off x="7425000" y="1386360"/>
            <a:ext cx="1187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Predictive</a:t>
            </a:r>
            <a:endParaRPr b="0" lang="en-IN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 19"/>
          <p:cNvSpPr/>
          <p:nvPr/>
        </p:nvSpPr>
        <p:spPr>
          <a:xfrm>
            <a:off x="6876360" y="1971720"/>
            <a:ext cx="164484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c9dde1"/>
                </a:solidFill>
                <a:latin typeface="Times New Roman"/>
                <a:ea typeface="Times New Roman"/>
              </a:rPr>
              <a:t>Early death is predictable (AUC 0.90); readmission needs post-discharge data.</a:t>
            </a:r>
            <a:endParaRPr b="0" lang="en-IN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 20"/>
          <p:cNvSpPr/>
          <p:nvPr/>
        </p:nvSpPr>
        <p:spPr>
          <a:xfrm>
            <a:off x="6876360" y="2913480"/>
            <a:ext cx="16448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b3a8e0"/>
                </a:solidFill>
                <a:latin typeface="Times New Roman"/>
                <a:ea typeface="Times New Roman"/>
              </a:rPr>
              <a:t>→ </a:t>
            </a:r>
            <a:r>
              <a:rPr b="1" lang="en-US" sz="1200" spc="-1" strike="noStrike">
                <a:solidFill>
                  <a:srgbClr val="b3a8e0"/>
                </a:solidFill>
                <a:latin typeface="Times New Roman"/>
                <a:ea typeface="Times New Roman"/>
              </a:rPr>
              <a:t>Score every admission for early-death risk.</a:t>
            </a:r>
            <a:endParaRPr b="0" lang="en-IN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Shape 21"/>
          <p:cNvSpPr/>
          <p:nvPr/>
        </p:nvSpPr>
        <p:spPr>
          <a:xfrm>
            <a:off x="457200" y="3736440"/>
            <a:ext cx="8228520" cy="4561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600">
            <a:solidFill>
              <a:srgbClr val="e6f2f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 22"/>
          <p:cNvSpPr/>
          <p:nvPr/>
        </p:nvSpPr>
        <p:spPr>
          <a:xfrm>
            <a:off x="640080" y="3736440"/>
            <a:ext cx="7862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b2a30"/>
                </a:solidFill>
                <a:latin typeface="Times New Roman"/>
                <a:ea typeface="Times New Roman"/>
              </a:rPr>
              <a:t>Explore the live dashboard:  </a:t>
            </a:r>
            <a:r>
              <a:rPr b="1" lang="en-US" sz="1300" spc="-1" strike="noStrike" u="sng">
                <a:solidFill>
                  <a:srgbClr val="0563c1"/>
                </a:solidFill>
                <a:uFillTx/>
                <a:latin typeface="Times New Roman"/>
                <a:ea typeface="Times New Roman"/>
                <a:hlinkClick r:id="rId6"/>
              </a:rPr>
              <a:t>Hospitalized HF Patients Analytics · Team05 PyCraft</a:t>
            </a:r>
            <a:endParaRPr b="0" lang="en-IN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24"/>
          <p:cNvSpPr/>
          <p:nvPr/>
        </p:nvSpPr>
        <p:spPr>
          <a:xfrm>
            <a:off x="457200" y="459036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Freeform 9"/>
          <p:cNvSpPr/>
          <p:nvPr/>
        </p:nvSpPr>
        <p:spPr>
          <a:xfrm>
            <a:off x="8629560" y="30600"/>
            <a:ext cx="484920" cy="799560"/>
          </a:xfrm>
          <a:custGeom>
            <a:avLst/>
            <a:gdLst>
              <a:gd name="textAreaLeft" fmla="*/ 0 w 484920"/>
              <a:gd name="textAreaRight" fmla="*/ 485640 w 484920"/>
              <a:gd name="textAreaTop" fmla="*/ 0 h 799560"/>
              <a:gd name="textAreaBottom" fmla="*/ 800280 h 799560"/>
            </a:gdLst>
            <a:ahLst/>
            <a:rect l="textAreaLeft" t="textAreaTop" r="textAreaRight" b="textAreaBottom"/>
            <a:pathLst>
              <a:path w="647700" h="1066800">
                <a:moveTo>
                  <a:pt x="0" y="0"/>
                </a:moveTo>
                <a:lnTo>
                  <a:pt x="647700" y="0"/>
                </a:lnTo>
                <a:lnTo>
                  <a:pt x="647700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59"/>
          <p:cNvSpPr/>
          <p:nvPr/>
        </p:nvSpPr>
        <p:spPr>
          <a:xfrm>
            <a:off x="540000" y="2160000"/>
            <a:ext cx="82285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8000" spc="-1" strike="noStrike">
                <a:solidFill>
                  <a:srgbClr val="ffffff"/>
                </a:solidFill>
                <a:latin typeface="Times New Roman"/>
                <a:ea typeface="Times New Roman"/>
              </a:rPr>
              <a:t>Thank you!</a:t>
            </a:r>
            <a:endParaRPr b="0" lang="en-IN" sz="8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 60"/>
          <p:cNvSpPr/>
          <p:nvPr/>
        </p:nvSpPr>
        <p:spPr>
          <a:xfrm>
            <a:off x="457200" y="459036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Freeform 9"/>
          <p:cNvSpPr/>
          <p:nvPr/>
        </p:nvSpPr>
        <p:spPr>
          <a:xfrm>
            <a:off x="8629560" y="30600"/>
            <a:ext cx="484920" cy="799560"/>
          </a:xfrm>
          <a:custGeom>
            <a:avLst/>
            <a:gdLst>
              <a:gd name="textAreaLeft" fmla="*/ 0 w 484920"/>
              <a:gd name="textAreaRight" fmla="*/ 485640 w 484920"/>
              <a:gd name="textAreaTop" fmla="*/ 0 h 799560"/>
              <a:gd name="textAreaBottom" fmla="*/ 800280 h 799560"/>
            </a:gdLst>
            <a:ahLst/>
            <a:rect l="textAreaLeft" t="textAreaTop" r="textAreaRight" b="textAreaBottom"/>
            <a:pathLst>
              <a:path w="647700" h="1066800">
                <a:moveTo>
                  <a:pt x="0" y="0"/>
                </a:moveTo>
                <a:lnTo>
                  <a:pt x="647700" y="0"/>
                </a:lnTo>
                <a:lnTo>
                  <a:pt x="647700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LibreOffice/24.2.7.2$Linux_X86_64 LibreOffice_project/420$Build-2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2026-09-28T23:47:11Z</dcterms:created>
  <dc:creator>Team05 PyCraft</dc:creator>
  <dc:description/>
  <dc:language>en-US</dc:language>
  <cp:lastModifiedBy/>
  <dcterms:modified xsi:type="dcterms:W3CDTF">2026-09-29T10:35:33Z</dcterms:modified>
  <cp:revision>6</cp:revision>
  <dc:subject>PptxGenJS Presentation</dc:subject>
  <dc:title>Hospitalized Heart Failure Patients Analytics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10</vt:r8>
  </property>
  <property fmtid="{D5CDD505-2E9C-101B-9397-08002B2CF9AE}" pid="3" name="PresentationFormat">
    <vt:lpwstr>On-screen Show (16:9)</vt:lpwstr>
  </property>
  <property fmtid="{D5CDD505-2E9C-101B-9397-08002B2CF9AE}" pid="4" name="Slides">
    <vt:r8>10</vt:r8>
  </property>
</Properties>
</file>